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63" r:id="rId5"/>
    <p:sldId id="264" r:id="rId6"/>
    <p:sldId id="266" r:id="rId7"/>
    <p:sldId id="268" r:id="rId8"/>
    <p:sldId id="269" r:id="rId9"/>
    <p:sldId id="259" r:id="rId10"/>
    <p:sldId id="270" r:id="rId11"/>
    <p:sldId id="272" r:id="rId12"/>
    <p:sldId id="273" r:id="rId13"/>
    <p:sldId id="275" r:id="rId14"/>
    <p:sldId id="276" r:id="rId15"/>
    <p:sldId id="277" r:id="rId16"/>
    <p:sldId id="278" r:id="rId17"/>
    <p:sldId id="279" r:id="rId18"/>
    <p:sldId id="294" r:id="rId19"/>
    <p:sldId id="295" r:id="rId20"/>
    <p:sldId id="296" r:id="rId21"/>
    <p:sldId id="297" r:id="rId22"/>
    <p:sldId id="298" r:id="rId23"/>
    <p:sldId id="299" r:id="rId24"/>
    <p:sldId id="300" r:id="rId25"/>
    <p:sldId id="301" r:id="rId26"/>
    <p:sldId id="283" r:id="rId27"/>
    <p:sldId id="302" r:id="rId28"/>
    <p:sldId id="303" r:id="rId29"/>
    <p:sldId id="305" r:id="rId30"/>
    <p:sldId id="290" r:id="rId31"/>
    <p:sldId id="293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788" autoAdjust="0"/>
  </p:normalViewPr>
  <p:slideViewPr>
    <p:cSldViewPr snapToGrid="0" snapToObjects="1">
      <p:cViewPr varScale="1">
        <p:scale>
          <a:sx n="91" d="100"/>
          <a:sy n="91" d="100"/>
        </p:scale>
        <p:origin x="652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rzad Habibi" userId="fbeeb967-9b78-4012-b41a-a723c09ee9c3" providerId="ADAL" clId="{AEBEEF59-BF14-46FC-9618-A2BF0255DFAC}"/>
    <pc:docChg chg="undo custSel addSld delSld modSld sldOrd">
      <pc:chgData name="Farzad Habibi" userId="fbeeb967-9b78-4012-b41a-a723c09ee9c3" providerId="ADAL" clId="{AEBEEF59-BF14-46FC-9618-A2BF0255DFAC}" dt="2026-09-02T20:29:33.669" v="4921" actId="21"/>
      <pc:docMkLst>
        <pc:docMk/>
      </pc:docMkLst>
      <pc:sldChg chg="addSp delSp modSp mod">
        <pc:chgData name="Farzad Habibi" userId="fbeeb967-9b78-4012-b41a-a723c09ee9c3" providerId="ADAL" clId="{AEBEEF59-BF14-46FC-9618-A2BF0255DFAC}" dt="2026-08-19T18:08:43.975" v="317" actId="20577"/>
        <pc:sldMkLst>
          <pc:docMk/>
          <pc:sldMk cId="0" sldId="256"/>
        </pc:sldMkLst>
        <pc:spChg chg="mod">
          <ac:chgData name="Farzad Habibi" userId="fbeeb967-9b78-4012-b41a-a723c09ee9c3" providerId="ADAL" clId="{AEBEEF59-BF14-46FC-9618-A2BF0255DFAC}" dt="2026-08-19T18:03:42.386" v="227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Farzad Habibi" userId="fbeeb967-9b78-4012-b41a-a723c09ee9c3" providerId="ADAL" clId="{AEBEEF59-BF14-46FC-9618-A2BF0255DFAC}" dt="2026-08-19T18:04:07.030" v="254" actId="20577"/>
          <ac:spMkLst>
            <pc:docMk/>
            <pc:sldMk cId="0" sldId="256"/>
            <ac:spMk id="6" creationId="{00000000-0000-0000-0000-000000000000}"/>
          </ac:spMkLst>
        </pc:spChg>
      </pc:sldChg>
      <pc:sldChg chg="addSp delSp modSp mod modNotesTx">
        <pc:chgData name="Farzad Habibi" userId="fbeeb967-9b78-4012-b41a-a723c09ee9c3" providerId="ADAL" clId="{AEBEEF59-BF14-46FC-9618-A2BF0255DFAC}" dt="2026-08-19T23:17:20.650" v="3483" actId="20577"/>
        <pc:sldMkLst>
          <pc:docMk/>
          <pc:sldMk cId="0" sldId="257"/>
        </pc:sldMkLst>
        <pc:spChg chg="mod">
          <ac:chgData name="Farzad Habibi" userId="fbeeb967-9b78-4012-b41a-a723c09ee9c3" providerId="ADAL" clId="{AEBEEF59-BF14-46FC-9618-A2BF0255DFAC}" dt="2026-08-19T17:49:26.183" v="39" actId="20577"/>
          <ac:spMkLst>
            <pc:docMk/>
            <pc:sldMk cId="0" sldId="257"/>
            <ac:spMk id="3" creationId="{00000000-0000-0000-0000-000000000000}"/>
          </ac:spMkLst>
        </pc:spChg>
        <pc:spChg chg="mod">
          <ac:chgData name="Farzad Habibi" userId="fbeeb967-9b78-4012-b41a-a723c09ee9c3" providerId="ADAL" clId="{AEBEEF59-BF14-46FC-9618-A2BF0255DFAC}" dt="2026-08-19T18:00:48.566" v="151" actId="20577"/>
          <ac:spMkLst>
            <pc:docMk/>
            <pc:sldMk cId="0" sldId="257"/>
            <ac:spMk id="7" creationId="{00000000-0000-0000-0000-000000000000}"/>
          </ac:spMkLst>
        </pc:spChg>
        <pc:spChg chg="mod">
          <ac:chgData name="Farzad Habibi" userId="fbeeb967-9b78-4012-b41a-a723c09ee9c3" providerId="ADAL" clId="{AEBEEF59-BF14-46FC-9618-A2BF0255DFAC}" dt="2026-08-19T17:49:30.662" v="42" actId="107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Farzad Habibi" userId="fbeeb967-9b78-4012-b41a-a723c09ee9c3" providerId="ADAL" clId="{AEBEEF59-BF14-46FC-9618-A2BF0255DFAC}" dt="2026-08-19T17:48:48.805" v="26" actId="20577"/>
          <ac:spMkLst>
            <pc:docMk/>
            <pc:sldMk cId="0" sldId="257"/>
            <ac:spMk id="14" creationId="{00000000-0000-0000-0000-000000000000}"/>
          </ac:spMkLst>
        </pc:spChg>
        <pc:spChg chg="mod">
          <ac:chgData name="Farzad Habibi" userId="fbeeb967-9b78-4012-b41a-a723c09ee9c3" providerId="ADAL" clId="{AEBEEF59-BF14-46FC-9618-A2BF0255DFAC}" dt="2026-08-19T17:50:59.205" v="113" actId="1076"/>
          <ac:spMkLst>
            <pc:docMk/>
            <pc:sldMk cId="0" sldId="257"/>
            <ac:spMk id="19" creationId="{00000000-0000-0000-0000-000000000000}"/>
          </ac:spMkLst>
        </pc:spChg>
        <pc:spChg chg="add mod">
          <ac:chgData name="Farzad Habibi" userId="fbeeb967-9b78-4012-b41a-a723c09ee9c3" providerId="ADAL" clId="{AEBEEF59-BF14-46FC-9618-A2BF0255DFAC}" dt="2026-08-19T17:50:59.205" v="113" actId="1076"/>
          <ac:spMkLst>
            <pc:docMk/>
            <pc:sldMk cId="0" sldId="257"/>
            <ac:spMk id="27" creationId="{AB06B25B-F4EB-115B-A0BB-9915B68F1B9C}"/>
          </ac:spMkLst>
        </pc:spChg>
        <pc:spChg chg="add mod">
          <ac:chgData name="Farzad Habibi" userId="fbeeb967-9b78-4012-b41a-a723c09ee9c3" providerId="ADAL" clId="{AEBEEF59-BF14-46FC-9618-A2BF0255DFAC}" dt="2026-08-19T17:51:30.692" v="147" actId="20577"/>
          <ac:spMkLst>
            <pc:docMk/>
            <pc:sldMk cId="0" sldId="257"/>
            <ac:spMk id="31" creationId="{98A74A24-DE43-64CD-37D3-A51B80117A60}"/>
          </ac:spMkLst>
        </pc:spChg>
        <pc:spChg chg="add mod">
          <ac:chgData name="Farzad Habibi" userId="fbeeb967-9b78-4012-b41a-a723c09ee9c3" providerId="ADAL" clId="{AEBEEF59-BF14-46FC-9618-A2BF0255DFAC}" dt="2026-08-19T17:51:21.421" v="124" actId="20577"/>
          <ac:spMkLst>
            <pc:docMk/>
            <pc:sldMk cId="0" sldId="257"/>
            <ac:spMk id="33" creationId="{C13BAEDF-C14D-955A-F862-F9AA7879EDE2}"/>
          </ac:spMkLst>
        </pc:spChg>
      </pc:sldChg>
      <pc:sldChg chg="modSp mod">
        <pc:chgData name="Farzad Habibi" userId="fbeeb967-9b78-4012-b41a-a723c09ee9c3" providerId="ADAL" clId="{AEBEEF59-BF14-46FC-9618-A2BF0255DFAC}" dt="2026-08-19T21:42:37.331" v="2182" actId="20577"/>
        <pc:sldMkLst>
          <pc:docMk/>
          <pc:sldMk cId="0" sldId="258"/>
        </pc:sldMkLst>
        <pc:spChg chg="mod">
          <ac:chgData name="Farzad Habibi" userId="fbeeb967-9b78-4012-b41a-a723c09ee9c3" providerId="ADAL" clId="{AEBEEF59-BF14-46FC-9618-A2BF0255DFAC}" dt="2026-08-19T21:42:37.331" v="2182" actId="20577"/>
          <ac:spMkLst>
            <pc:docMk/>
            <pc:sldMk cId="0" sldId="258"/>
            <ac:spMk id="3" creationId="{00000000-0000-0000-0000-000000000000}"/>
          </ac:spMkLst>
        </pc:spChg>
        <pc:spChg chg="mod">
          <ac:chgData name="Farzad Habibi" userId="fbeeb967-9b78-4012-b41a-a723c09ee9c3" providerId="ADAL" clId="{AEBEEF59-BF14-46FC-9618-A2BF0255DFAC}" dt="2026-08-19T18:01:09.838" v="166" actId="20577"/>
          <ac:spMkLst>
            <pc:docMk/>
            <pc:sldMk cId="0" sldId="258"/>
            <ac:spMk id="7" creationId="{00000000-0000-0000-0000-000000000000}"/>
          </ac:spMkLst>
        </pc:spChg>
        <pc:spChg chg="mod">
          <ac:chgData name="Farzad Habibi" userId="fbeeb967-9b78-4012-b41a-a723c09ee9c3" providerId="ADAL" clId="{AEBEEF59-BF14-46FC-9618-A2BF0255DFAC}" dt="2026-08-19T18:02:28.600" v="221" actId="20577"/>
          <ac:spMkLst>
            <pc:docMk/>
            <pc:sldMk cId="0" sldId="258"/>
            <ac:spMk id="9" creationId="{00000000-0000-0000-0000-000000000000}"/>
          </ac:spMkLst>
        </pc:spChg>
        <pc:spChg chg="mod">
          <ac:chgData name="Farzad Habibi" userId="fbeeb967-9b78-4012-b41a-a723c09ee9c3" providerId="ADAL" clId="{AEBEEF59-BF14-46FC-9618-A2BF0255DFAC}" dt="2026-08-19T18:02:03.334" v="198" actId="20577"/>
          <ac:spMkLst>
            <pc:docMk/>
            <pc:sldMk cId="0" sldId="258"/>
            <ac:spMk id="11" creationId="{00000000-0000-0000-0000-000000000000}"/>
          </ac:spMkLst>
        </pc:spChg>
        <pc:spChg chg="mod">
          <ac:chgData name="Farzad Habibi" userId="fbeeb967-9b78-4012-b41a-a723c09ee9c3" providerId="ADAL" clId="{AEBEEF59-BF14-46FC-9618-A2BF0255DFAC}" dt="2026-08-19T18:02:12.432" v="214" actId="20577"/>
          <ac:spMkLst>
            <pc:docMk/>
            <pc:sldMk cId="0" sldId="258"/>
            <ac:spMk id="13" creationId="{00000000-0000-0000-0000-000000000000}"/>
          </ac:spMkLst>
        </pc:spChg>
        <pc:spChg chg="mod">
          <ac:chgData name="Farzad Habibi" userId="fbeeb967-9b78-4012-b41a-a723c09ee9c3" providerId="ADAL" clId="{AEBEEF59-BF14-46FC-9618-A2BF0255DFAC}" dt="2026-08-19T18:01:39.699" v="172" actId="20577"/>
          <ac:spMkLst>
            <pc:docMk/>
            <pc:sldMk cId="0" sldId="258"/>
            <ac:spMk id="15" creationId="{00000000-0000-0000-0000-000000000000}"/>
          </ac:spMkLst>
        </pc:spChg>
      </pc:sldChg>
      <pc:sldChg chg="delSp modSp add del mod setBg addAnim delAnim modAnim modNotesTx">
        <pc:chgData name="Farzad Habibi" userId="fbeeb967-9b78-4012-b41a-a723c09ee9c3" providerId="ADAL" clId="{AEBEEF59-BF14-46FC-9618-A2BF0255DFAC}" dt="2026-08-20T17:56:19.309" v="4919" actId="14100"/>
        <pc:sldMkLst>
          <pc:docMk/>
          <pc:sldMk cId="0" sldId="259"/>
        </pc:sldMkLst>
        <pc:spChg chg="mod">
          <ac:chgData name="Farzad Habibi" userId="fbeeb967-9b78-4012-b41a-a723c09ee9c3" providerId="ADAL" clId="{AEBEEF59-BF14-46FC-9618-A2BF0255DFAC}" dt="2026-08-19T18:27:09.787" v="610" actId="20577"/>
          <ac:spMkLst>
            <pc:docMk/>
            <pc:sldMk cId="0" sldId="259"/>
            <ac:spMk id="2" creationId="{00000000-0000-0000-0000-000000000000}"/>
          </ac:spMkLst>
        </pc:spChg>
        <pc:spChg chg="del">
          <ac:chgData name="Farzad Habibi" userId="fbeeb967-9b78-4012-b41a-a723c09ee9c3" providerId="ADAL" clId="{AEBEEF59-BF14-46FC-9618-A2BF0255DFAC}" dt="2026-08-19T18:03:12.615" v="222" actId="478"/>
          <ac:spMkLst>
            <pc:docMk/>
            <pc:sldMk cId="0" sldId="259"/>
            <ac:spMk id="5" creationId="{00000000-0000-0000-0000-000000000000}"/>
          </ac:spMkLst>
        </pc:spChg>
        <pc:spChg chg="mod">
          <ac:chgData name="Farzad Habibi" userId="fbeeb967-9b78-4012-b41a-a723c09ee9c3" providerId="ADAL" clId="{AEBEEF59-BF14-46FC-9618-A2BF0255DFAC}" dt="2026-08-20T17:55:57.140" v="4917" actId="1076"/>
          <ac:spMkLst>
            <pc:docMk/>
            <pc:sldMk cId="0" sldId="259"/>
            <ac:spMk id="9" creationId="{00000000-0000-0000-0000-000000000000}"/>
          </ac:spMkLst>
        </pc:spChg>
        <pc:cxnChg chg="mod">
          <ac:chgData name="Farzad Habibi" userId="fbeeb967-9b78-4012-b41a-a723c09ee9c3" providerId="ADAL" clId="{AEBEEF59-BF14-46FC-9618-A2BF0255DFAC}" dt="2026-08-20T17:55:53.061" v="4916" actId="478"/>
          <ac:cxnSpMkLst>
            <pc:docMk/>
            <pc:sldMk cId="0" sldId="259"/>
            <ac:cxnSpMk id="10" creationId="{00000000-0000-0000-0000-000000000000}"/>
          </ac:cxnSpMkLst>
        </pc:cxnChg>
        <pc:cxnChg chg="mod">
          <ac:chgData name="Farzad Habibi" userId="fbeeb967-9b78-4012-b41a-a723c09ee9c3" providerId="ADAL" clId="{AEBEEF59-BF14-46FC-9618-A2BF0255DFAC}" dt="2026-08-20T17:44:36.378" v="4914" actId="14100"/>
          <ac:cxnSpMkLst>
            <pc:docMk/>
            <pc:sldMk cId="0" sldId="259"/>
            <ac:cxnSpMk id="20" creationId="{00000000-0000-0000-0000-000000000000}"/>
          </ac:cxnSpMkLst>
        </pc:cxnChg>
        <pc:cxnChg chg="mod">
          <ac:chgData name="Farzad Habibi" userId="fbeeb967-9b78-4012-b41a-a723c09ee9c3" providerId="ADAL" clId="{AEBEEF59-BF14-46FC-9618-A2BF0255DFAC}" dt="2026-08-20T17:56:19.309" v="4919" actId="14100"/>
          <ac:cxnSpMkLst>
            <pc:docMk/>
            <pc:sldMk cId="0" sldId="259"/>
            <ac:cxnSpMk id="22" creationId="{00000000-0000-0000-0000-000000000000}"/>
          </ac:cxnSpMkLst>
        </pc:cxnChg>
      </pc:sldChg>
      <pc:sldChg chg="modSp mod modShow">
        <pc:chgData name="Farzad Habibi" userId="fbeeb967-9b78-4012-b41a-a723c09ee9c3" providerId="ADAL" clId="{AEBEEF59-BF14-46FC-9618-A2BF0255DFAC}" dt="2026-09-02T20:29:33.669" v="4921" actId="21"/>
        <pc:sldMkLst>
          <pc:docMk/>
          <pc:sldMk cId="0" sldId="263"/>
        </pc:sldMkLst>
        <pc:spChg chg="mod">
          <ac:chgData name="Farzad Habibi" userId="fbeeb967-9b78-4012-b41a-a723c09ee9c3" providerId="ADAL" clId="{AEBEEF59-BF14-46FC-9618-A2BF0255DFAC}" dt="2026-09-02T20:29:33.669" v="4921" actId="21"/>
          <ac:spMkLst>
            <pc:docMk/>
            <pc:sldMk cId="0" sldId="263"/>
            <ac:spMk id="5" creationId="{00000000-0000-0000-0000-000000000000}"/>
          </ac:spMkLst>
        </pc:spChg>
      </pc:sldChg>
      <pc:sldChg chg="modSp mod">
        <pc:chgData name="Farzad Habibi" userId="fbeeb967-9b78-4012-b41a-a723c09ee9c3" providerId="ADAL" clId="{AEBEEF59-BF14-46FC-9618-A2BF0255DFAC}" dt="2026-08-19T23:22:22.472" v="3500" actId="20577"/>
        <pc:sldMkLst>
          <pc:docMk/>
          <pc:sldMk cId="0" sldId="264"/>
        </pc:sldMkLst>
        <pc:spChg chg="mod">
          <ac:chgData name="Farzad Habibi" userId="fbeeb967-9b78-4012-b41a-a723c09ee9c3" providerId="ADAL" clId="{AEBEEF59-BF14-46FC-9618-A2BF0255DFAC}" dt="2026-08-19T23:22:22.472" v="3500" actId="20577"/>
          <ac:spMkLst>
            <pc:docMk/>
            <pc:sldMk cId="0" sldId="264"/>
            <ac:spMk id="3" creationId="{00000000-0000-0000-0000-000000000000}"/>
          </ac:spMkLst>
        </pc:spChg>
        <pc:spChg chg="mod">
          <ac:chgData name="Farzad Habibi" userId="fbeeb967-9b78-4012-b41a-a723c09ee9c3" providerId="ADAL" clId="{AEBEEF59-BF14-46FC-9618-A2BF0255DFAC}" dt="2026-08-19T18:11:30.761" v="470" actId="20577"/>
          <ac:spMkLst>
            <pc:docMk/>
            <pc:sldMk cId="0" sldId="264"/>
            <ac:spMk id="5" creationId="{00000000-0000-0000-0000-000000000000}"/>
          </ac:spMkLst>
        </pc:spChg>
      </pc:sldChg>
      <pc:sldChg chg="delSp modSp mod">
        <pc:chgData name="Farzad Habibi" userId="fbeeb967-9b78-4012-b41a-a723c09ee9c3" providerId="ADAL" clId="{AEBEEF59-BF14-46FC-9618-A2BF0255DFAC}" dt="2026-08-19T20:31:38.404" v="1265" actId="20577"/>
        <pc:sldMkLst>
          <pc:docMk/>
          <pc:sldMk cId="0" sldId="266"/>
        </pc:sldMkLst>
        <pc:spChg chg="mod">
          <ac:chgData name="Farzad Habibi" userId="fbeeb967-9b78-4012-b41a-a723c09ee9c3" providerId="ADAL" clId="{AEBEEF59-BF14-46FC-9618-A2BF0255DFAC}" dt="2026-08-19T20:27:32.987" v="1124" actId="20577"/>
          <ac:spMkLst>
            <pc:docMk/>
            <pc:sldMk cId="0" sldId="266"/>
            <ac:spMk id="3" creationId="{00000000-0000-0000-0000-000000000000}"/>
          </ac:spMkLst>
        </pc:spChg>
        <pc:spChg chg="mod">
          <ac:chgData name="Farzad Habibi" userId="fbeeb967-9b78-4012-b41a-a723c09ee9c3" providerId="ADAL" clId="{AEBEEF59-BF14-46FC-9618-A2BF0255DFAC}" dt="2026-08-19T20:31:38.404" v="1265" actId="20577"/>
          <ac:spMkLst>
            <pc:docMk/>
            <pc:sldMk cId="0" sldId="266"/>
            <ac:spMk id="6" creationId="{00000000-0000-0000-0000-000000000000}"/>
          </ac:spMkLst>
        </pc:spChg>
      </pc:sldChg>
      <pc:sldChg chg="modSp mod ord">
        <pc:chgData name="Farzad Habibi" userId="fbeeb967-9b78-4012-b41a-a723c09ee9c3" providerId="ADAL" clId="{AEBEEF59-BF14-46FC-9618-A2BF0255DFAC}" dt="2026-08-19T18:29:39.729" v="949"/>
        <pc:sldMkLst>
          <pc:docMk/>
          <pc:sldMk cId="0" sldId="268"/>
        </pc:sldMkLst>
        <pc:spChg chg="mod">
          <ac:chgData name="Farzad Habibi" userId="fbeeb967-9b78-4012-b41a-a723c09ee9c3" providerId="ADAL" clId="{AEBEEF59-BF14-46FC-9618-A2BF0255DFAC}" dt="2026-08-19T18:29:39.729" v="949"/>
          <ac:spMkLst>
            <pc:docMk/>
            <pc:sldMk cId="0" sldId="268"/>
            <ac:spMk id="5" creationId="{00000000-0000-0000-0000-000000000000}"/>
          </ac:spMkLst>
        </pc:spChg>
      </pc:sldChg>
      <pc:sldChg chg="modSp mod ord">
        <pc:chgData name="Farzad Habibi" userId="fbeeb967-9b78-4012-b41a-a723c09ee9c3" providerId="ADAL" clId="{AEBEEF59-BF14-46FC-9618-A2BF0255DFAC}" dt="2026-08-20T16:45:03.588" v="3801" actId="20577"/>
        <pc:sldMkLst>
          <pc:docMk/>
          <pc:sldMk cId="0" sldId="269"/>
        </pc:sldMkLst>
        <pc:spChg chg="mod">
          <ac:chgData name="Farzad Habibi" userId="fbeeb967-9b78-4012-b41a-a723c09ee9c3" providerId="ADAL" clId="{AEBEEF59-BF14-46FC-9618-A2BF0255DFAC}" dt="2026-08-20T16:45:03.588" v="3801" actId="20577"/>
          <ac:spMkLst>
            <pc:docMk/>
            <pc:sldMk cId="0" sldId="269"/>
            <ac:spMk id="5" creationId="{00000000-0000-0000-0000-000000000000}"/>
          </ac:spMkLst>
        </pc:spChg>
      </pc:sldChg>
      <pc:sldChg chg="modSp mod">
        <pc:chgData name="Farzad Habibi" userId="fbeeb967-9b78-4012-b41a-a723c09ee9c3" providerId="ADAL" clId="{AEBEEF59-BF14-46FC-9618-A2BF0255DFAC}" dt="2026-08-19T20:32:56.548" v="1316" actId="20577"/>
        <pc:sldMkLst>
          <pc:docMk/>
          <pc:sldMk cId="0" sldId="270"/>
        </pc:sldMkLst>
        <pc:spChg chg="mod">
          <ac:chgData name="Farzad Habibi" userId="fbeeb967-9b78-4012-b41a-a723c09ee9c3" providerId="ADAL" clId="{AEBEEF59-BF14-46FC-9618-A2BF0255DFAC}" dt="2026-08-19T18:48:17.323" v="1095" actId="20577"/>
          <ac:spMkLst>
            <pc:docMk/>
            <pc:sldMk cId="0" sldId="270"/>
            <ac:spMk id="3" creationId="{00000000-0000-0000-0000-000000000000}"/>
          </ac:spMkLst>
        </pc:spChg>
        <pc:spChg chg="mod">
          <ac:chgData name="Farzad Habibi" userId="fbeeb967-9b78-4012-b41a-a723c09ee9c3" providerId="ADAL" clId="{AEBEEF59-BF14-46FC-9618-A2BF0255DFAC}" dt="2026-08-19T18:47:46.155" v="1055" actId="1076"/>
          <ac:spMkLst>
            <pc:docMk/>
            <pc:sldMk cId="0" sldId="270"/>
            <ac:spMk id="5" creationId="{00000000-0000-0000-0000-000000000000}"/>
          </ac:spMkLst>
        </pc:spChg>
      </pc:sldChg>
      <pc:sldChg chg="addSp modSp mod addAnim delAnim modAnim modNotesTx">
        <pc:chgData name="Farzad Habibi" userId="fbeeb967-9b78-4012-b41a-a723c09ee9c3" providerId="ADAL" clId="{AEBEEF59-BF14-46FC-9618-A2BF0255DFAC}" dt="2026-08-20T17:14:13.088" v="4361" actId="113"/>
        <pc:sldMkLst>
          <pc:docMk/>
          <pc:sldMk cId="0" sldId="272"/>
        </pc:sldMkLst>
        <pc:spChg chg="add mod">
          <ac:chgData name="Farzad Habibi" userId="fbeeb967-9b78-4012-b41a-a723c09ee9c3" providerId="ADAL" clId="{AEBEEF59-BF14-46FC-9618-A2BF0255DFAC}" dt="2026-08-20T17:06:35.631" v="4145" actId="1076"/>
          <ac:spMkLst>
            <pc:docMk/>
            <pc:sldMk cId="0" sldId="272"/>
            <ac:spMk id="2" creationId="{B87DF5A0-3BCB-FB98-5FA3-25DF17FE652E}"/>
          </ac:spMkLst>
        </pc:spChg>
        <pc:spChg chg="mod">
          <ac:chgData name="Farzad Habibi" userId="fbeeb967-9b78-4012-b41a-a723c09ee9c3" providerId="ADAL" clId="{AEBEEF59-BF14-46FC-9618-A2BF0255DFAC}" dt="2026-08-19T20:34:14.159" v="1344" actId="20577"/>
          <ac:spMkLst>
            <pc:docMk/>
            <pc:sldMk cId="0" sldId="272"/>
            <ac:spMk id="3" creationId="{00000000-0000-0000-0000-000000000000}"/>
          </ac:spMkLst>
        </pc:spChg>
        <pc:spChg chg="mod">
          <ac:chgData name="Farzad Habibi" userId="fbeeb967-9b78-4012-b41a-a723c09ee9c3" providerId="ADAL" clId="{AEBEEF59-BF14-46FC-9618-A2BF0255DFAC}" dt="2026-08-20T17:14:13.088" v="4361" actId="113"/>
          <ac:spMkLst>
            <pc:docMk/>
            <pc:sldMk cId="0" sldId="272"/>
            <ac:spMk id="23" creationId="{00000000-0000-0000-0000-000000000000}"/>
          </ac:spMkLst>
        </pc:spChg>
      </pc:sldChg>
      <pc:sldChg chg="addSp delSp modSp mod modNotesTx">
        <pc:chgData name="Farzad Habibi" userId="fbeeb967-9b78-4012-b41a-a723c09ee9c3" providerId="ADAL" clId="{AEBEEF59-BF14-46FC-9618-A2BF0255DFAC}" dt="2026-08-19T23:30:58.496" v="3649" actId="20577"/>
        <pc:sldMkLst>
          <pc:docMk/>
          <pc:sldMk cId="0" sldId="273"/>
        </pc:sldMkLst>
        <pc:spChg chg="mod">
          <ac:chgData name="Farzad Habibi" userId="fbeeb967-9b78-4012-b41a-a723c09ee9c3" providerId="ADAL" clId="{AEBEEF59-BF14-46FC-9618-A2BF0255DFAC}" dt="2026-08-19T21:21:25.404" v="1558" actId="20577"/>
          <ac:spMkLst>
            <pc:docMk/>
            <pc:sldMk cId="0" sldId="273"/>
            <ac:spMk id="3" creationId="{00000000-0000-0000-0000-000000000000}"/>
          </ac:spMkLst>
        </pc:spChg>
        <pc:spChg chg="del">
          <ac:chgData name="Farzad Habibi" userId="fbeeb967-9b78-4012-b41a-a723c09ee9c3" providerId="ADAL" clId="{AEBEEF59-BF14-46FC-9618-A2BF0255DFAC}" dt="2026-08-19T21:21:20.982" v="1549" actId="478"/>
          <ac:spMkLst>
            <pc:docMk/>
            <pc:sldMk cId="0" sldId="273"/>
            <ac:spMk id="5" creationId="{00000000-0000-0000-0000-000000000000}"/>
          </ac:spMkLst>
        </pc:spChg>
        <pc:spChg chg="del">
          <ac:chgData name="Farzad Habibi" userId="fbeeb967-9b78-4012-b41a-a723c09ee9c3" providerId="ADAL" clId="{AEBEEF59-BF14-46FC-9618-A2BF0255DFAC}" dt="2026-08-19T21:21:20.982" v="1549" actId="478"/>
          <ac:spMkLst>
            <pc:docMk/>
            <pc:sldMk cId="0" sldId="273"/>
            <ac:spMk id="6" creationId="{00000000-0000-0000-0000-000000000000}"/>
          </ac:spMkLst>
        </pc:spChg>
        <pc:spChg chg="del">
          <ac:chgData name="Farzad Habibi" userId="fbeeb967-9b78-4012-b41a-a723c09ee9c3" providerId="ADAL" clId="{AEBEEF59-BF14-46FC-9618-A2BF0255DFAC}" dt="2026-08-19T21:21:20.982" v="1549" actId="478"/>
          <ac:spMkLst>
            <pc:docMk/>
            <pc:sldMk cId="0" sldId="273"/>
            <ac:spMk id="8" creationId="{00000000-0000-0000-0000-000000000000}"/>
          </ac:spMkLst>
        </pc:spChg>
      </pc:sldChg>
      <pc:sldChg chg="modSp mod">
        <pc:chgData name="Farzad Habibi" userId="fbeeb967-9b78-4012-b41a-a723c09ee9c3" providerId="ADAL" clId="{AEBEEF59-BF14-46FC-9618-A2BF0255DFAC}" dt="2026-08-19T21:22:41.831" v="1672" actId="20577"/>
        <pc:sldMkLst>
          <pc:docMk/>
          <pc:sldMk cId="0" sldId="275"/>
        </pc:sldMkLst>
        <pc:spChg chg="mod">
          <ac:chgData name="Farzad Habibi" userId="fbeeb967-9b78-4012-b41a-a723c09ee9c3" providerId="ADAL" clId="{AEBEEF59-BF14-46FC-9618-A2BF0255DFAC}" dt="2026-08-19T21:22:41.831" v="1672" actId="20577"/>
          <ac:spMkLst>
            <pc:docMk/>
            <pc:sldMk cId="0" sldId="275"/>
            <ac:spMk id="3" creationId="{00000000-0000-0000-0000-000000000000}"/>
          </ac:spMkLst>
        </pc:spChg>
        <pc:spChg chg="mod">
          <ac:chgData name="Farzad Habibi" userId="fbeeb967-9b78-4012-b41a-a723c09ee9c3" providerId="ADAL" clId="{AEBEEF59-BF14-46FC-9618-A2BF0255DFAC}" dt="2026-08-19T21:22:30.106" v="1671" actId="1076"/>
          <ac:spMkLst>
            <pc:docMk/>
            <pc:sldMk cId="0" sldId="275"/>
            <ac:spMk id="5" creationId="{00000000-0000-0000-0000-000000000000}"/>
          </ac:spMkLst>
        </pc:spChg>
      </pc:sldChg>
      <pc:sldChg chg="delSp modSp mod">
        <pc:chgData name="Farzad Habibi" userId="fbeeb967-9b78-4012-b41a-a723c09ee9c3" providerId="ADAL" clId="{AEBEEF59-BF14-46FC-9618-A2BF0255DFAC}" dt="2026-08-19T21:23:35.698" v="1723" actId="20577"/>
        <pc:sldMkLst>
          <pc:docMk/>
          <pc:sldMk cId="0" sldId="276"/>
        </pc:sldMkLst>
        <pc:spChg chg="mod">
          <ac:chgData name="Farzad Habibi" userId="fbeeb967-9b78-4012-b41a-a723c09ee9c3" providerId="ADAL" clId="{AEBEEF59-BF14-46FC-9618-A2BF0255DFAC}" dt="2026-08-19T21:23:35.698" v="1723" actId="20577"/>
          <ac:spMkLst>
            <pc:docMk/>
            <pc:sldMk cId="0" sldId="276"/>
            <ac:spMk id="6" creationId="{00000000-0000-0000-0000-000000000000}"/>
          </ac:spMkLst>
        </pc:spChg>
      </pc:sldChg>
      <pc:sldChg chg="modSp mod">
        <pc:chgData name="Farzad Habibi" userId="fbeeb967-9b78-4012-b41a-a723c09ee9c3" providerId="ADAL" clId="{AEBEEF59-BF14-46FC-9618-A2BF0255DFAC}" dt="2026-08-19T23:46:04.946" v="3741" actId="20577"/>
        <pc:sldMkLst>
          <pc:docMk/>
          <pc:sldMk cId="0" sldId="277"/>
        </pc:sldMkLst>
        <pc:spChg chg="mod">
          <ac:chgData name="Farzad Habibi" userId="fbeeb967-9b78-4012-b41a-a723c09ee9c3" providerId="ADAL" clId="{AEBEEF59-BF14-46FC-9618-A2BF0255DFAC}" dt="2026-08-19T23:46:04.946" v="3741" actId="20577"/>
          <ac:spMkLst>
            <pc:docMk/>
            <pc:sldMk cId="0" sldId="277"/>
            <ac:spMk id="5" creationId="{00000000-0000-0000-0000-000000000000}"/>
          </ac:spMkLst>
        </pc:spChg>
      </pc:sldChg>
      <pc:sldChg chg="modSp mod modNotesTx">
        <pc:chgData name="Farzad Habibi" userId="fbeeb967-9b78-4012-b41a-a723c09ee9c3" providerId="ADAL" clId="{AEBEEF59-BF14-46FC-9618-A2BF0255DFAC}" dt="2026-08-20T17:24:32.627" v="4456" actId="20577"/>
        <pc:sldMkLst>
          <pc:docMk/>
          <pc:sldMk cId="0" sldId="278"/>
        </pc:sldMkLst>
        <pc:spChg chg="mod">
          <ac:chgData name="Farzad Habibi" userId="fbeeb967-9b78-4012-b41a-a723c09ee9c3" providerId="ADAL" clId="{AEBEEF59-BF14-46FC-9618-A2BF0255DFAC}" dt="2026-08-19T21:24:03.487" v="1747" actId="20577"/>
          <ac:spMkLst>
            <pc:docMk/>
            <pc:sldMk cId="0" sldId="278"/>
            <ac:spMk id="5" creationId="{00000000-0000-0000-0000-000000000000}"/>
          </ac:spMkLst>
        </pc:spChg>
      </pc:sldChg>
      <pc:sldChg chg="addSp delSp modSp mod modNotesTx">
        <pc:chgData name="Farzad Habibi" userId="fbeeb967-9b78-4012-b41a-a723c09ee9c3" providerId="ADAL" clId="{AEBEEF59-BF14-46FC-9618-A2BF0255DFAC}" dt="2026-08-20T17:30:45.013" v="4899" actId="20577"/>
        <pc:sldMkLst>
          <pc:docMk/>
          <pc:sldMk cId="0" sldId="279"/>
        </pc:sldMkLst>
        <pc:spChg chg="mod">
          <ac:chgData name="Farzad Habibi" userId="fbeeb967-9b78-4012-b41a-a723c09ee9c3" providerId="ADAL" clId="{AEBEEF59-BF14-46FC-9618-A2BF0255DFAC}" dt="2026-08-19T21:35:25.032" v="1860" actId="20577"/>
          <ac:spMkLst>
            <pc:docMk/>
            <pc:sldMk cId="0" sldId="279"/>
            <ac:spMk id="3" creationId="{00000000-0000-0000-0000-000000000000}"/>
          </ac:spMkLst>
        </pc:spChg>
        <pc:spChg chg="add mod">
          <ac:chgData name="Farzad Habibi" userId="fbeeb967-9b78-4012-b41a-a723c09ee9c3" providerId="ADAL" clId="{AEBEEF59-BF14-46FC-9618-A2BF0255DFAC}" dt="2026-08-19T21:51:53.726" v="2227" actId="20577"/>
          <ac:spMkLst>
            <pc:docMk/>
            <pc:sldMk cId="0" sldId="279"/>
            <ac:spMk id="6" creationId="{5A796514-1B09-39A1-B350-083925DF4AB5}"/>
          </ac:spMkLst>
        </pc:spChg>
        <pc:spChg chg="mod">
          <ac:chgData name="Farzad Habibi" userId="fbeeb967-9b78-4012-b41a-a723c09ee9c3" providerId="ADAL" clId="{AEBEEF59-BF14-46FC-9618-A2BF0255DFAC}" dt="2026-08-19T21:51:25.603" v="2212" actId="20577"/>
          <ac:spMkLst>
            <pc:docMk/>
            <pc:sldMk cId="0" sldId="279"/>
            <ac:spMk id="20" creationId="{00000000-0000-0000-0000-000000000000}"/>
          </ac:spMkLst>
        </pc:spChg>
      </pc:sldChg>
      <pc:sldChg chg="delSp modSp mod modNotesTx">
        <pc:chgData name="Farzad Habibi" userId="fbeeb967-9b78-4012-b41a-a723c09ee9c3" providerId="ADAL" clId="{AEBEEF59-BF14-46FC-9618-A2BF0255DFAC}" dt="2026-08-19T22:30:56.701" v="2838" actId="20577"/>
        <pc:sldMkLst>
          <pc:docMk/>
          <pc:sldMk cId="0" sldId="283"/>
        </pc:sldMkLst>
        <pc:spChg chg="mod">
          <ac:chgData name="Farzad Habibi" userId="fbeeb967-9b78-4012-b41a-a723c09ee9c3" providerId="ADAL" clId="{AEBEEF59-BF14-46FC-9618-A2BF0255DFAC}" dt="2026-08-19T22:10:17.705" v="2403" actId="20577"/>
          <ac:spMkLst>
            <pc:docMk/>
            <pc:sldMk cId="0" sldId="283"/>
            <ac:spMk id="3" creationId="{00000000-0000-0000-0000-000000000000}"/>
          </ac:spMkLst>
        </pc:spChg>
        <pc:spChg chg="mod">
          <ac:chgData name="Farzad Habibi" userId="fbeeb967-9b78-4012-b41a-a723c09ee9c3" providerId="ADAL" clId="{AEBEEF59-BF14-46FC-9618-A2BF0255DFAC}" dt="2026-08-19T22:08:26.769" v="2351" actId="20577"/>
          <ac:spMkLst>
            <pc:docMk/>
            <pc:sldMk cId="0" sldId="283"/>
            <ac:spMk id="7" creationId="{00000000-0000-0000-0000-000000000000}"/>
          </ac:spMkLst>
        </pc:spChg>
        <pc:spChg chg="mod">
          <ac:chgData name="Farzad Habibi" userId="fbeeb967-9b78-4012-b41a-a723c09ee9c3" providerId="ADAL" clId="{AEBEEF59-BF14-46FC-9618-A2BF0255DFAC}" dt="2026-08-19T22:06:13.508" v="2341" actId="20577"/>
          <ac:spMkLst>
            <pc:docMk/>
            <pc:sldMk cId="0" sldId="283"/>
            <ac:spMk id="8" creationId="{00000000-0000-0000-0000-000000000000}"/>
          </ac:spMkLst>
        </pc:spChg>
        <pc:spChg chg="mod">
          <ac:chgData name="Farzad Habibi" userId="fbeeb967-9b78-4012-b41a-a723c09ee9c3" providerId="ADAL" clId="{AEBEEF59-BF14-46FC-9618-A2BF0255DFAC}" dt="2026-08-19T22:08:51.401" v="2398" actId="20577"/>
          <ac:spMkLst>
            <pc:docMk/>
            <pc:sldMk cId="0" sldId="283"/>
            <ac:spMk id="35" creationId="{00000000-0000-0000-0000-000000000000}"/>
          </ac:spMkLst>
        </pc:spChg>
      </pc:sldChg>
      <pc:sldChg chg="modSp mod">
        <pc:chgData name="Farzad Habibi" userId="fbeeb967-9b78-4012-b41a-a723c09ee9c3" providerId="ADAL" clId="{AEBEEF59-BF14-46FC-9618-A2BF0255DFAC}" dt="2026-08-19T22:36:02.175" v="3108" actId="20577"/>
        <pc:sldMkLst>
          <pc:docMk/>
          <pc:sldMk cId="0" sldId="290"/>
        </pc:sldMkLst>
      </pc:sldChg>
      <pc:sldChg chg="delSp modSp add mod">
        <pc:chgData name="Farzad Habibi" userId="fbeeb967-9b78-4012-b41a-a723c09ee9c3" providerId="ADAL" clId="{AEBEEF59-BF14-46FC-9618-A2BF0255DFAC}" dt="2026-08-19T21:39:24.973" v="2016"/>
        <pc:sldMkLst>
          <pc:docMk/>
          <pc:sldMk cId="3387026400" sldId="294"/>
        </pc:sldMkLst>
      </pc:sldChg>
      <pc:sldChg chg="addSp delSp modSp add mod ord">
        <pc:chgData name="Farzad Habibi" userId="fbeeb967-9b78-4012-b41a-a723c09ee9c3" providerId="ADAL" clId="{AEBEEF59-BF14-46FC-9618-A2BF0255DFAC}" dt="2026-08-19T21:40:57.849" v="2044" actId="20577"/>
        <pc:sldMkLst>
          <pc:docMk/>
          <pc:sldMk cId="359766196" sldId="295"/>
        </pc:sldMkLst>
      </pc:sldChg>
      <pc:sldChg chg="addSp modSp add mod">
        <pc:chgData name="Farzad Habibi" userId="fbeeb967-9b78-4012-b41a-a723c09ee9c3" providerId="ADAL" clId="{AEBEEF59-BF14-46FC-9618-A2BF0255DFAC}" dt="2026-08-19T21:41:22.465" v="2050" actId="20577"/>
        <pc:sldMkLst>
          <pc:docMk/>
          <pc:sldMk cId="1638454428" sldId="296"/>
        </pc:sldMkLst>
      </pc:sldChg>
      <pc:sldChg chg="addSp modSp new mod">
        <pc:chgData name="Farzad Habibi" userId="fbeeb967-9b78-4012-b41a-a723c09ee9c3" providerId="ADAL" clId="{AEBEEF59-BF14-46FC-9618-A2BF0255DFAC}" dt="2026-08-19T21:41:57.628" v="2181" actId="1076"/>
        <pc:sldMkLst>
          <pc:docMk/>
          <pc:sldMk cId="637865937" sldId="297"/>
        </pc:sldMkLst>
      </pc:sldChg>
      <pc:sldChg chg="addSp delSp modSp new mod">
        <pc:chgData name="Farzad Habibi" userId="fbeeb967-9b78-4012-b41a-a723c09ee9c3" providerId="ADAL" clId="{AEBEEF59-BF14-46FC-9618-A2BF0255DFAC}" dt="2026-08-19T23:58:37.694" v="3765"/>
        <pc:sldMkLst>
          <pc:docMk/>
          <pc:sldMk cId="990472784" sldId="302"/>
        </pc:sldMkLst>
        <pc:spChg chg="mod">
          <ac:chgData name="Farzad Habibi" userId="fbeeb967-9b78-4012-b41a-a723c09ee9c3" providerId="ADAL" clId="{AEBEEF59-BF14-46FC-9618-A2BF0255DFAC}" dt="2026-08-19T22:57:49.607" v="3192" actId="20577"/>
          <ac:spMkLst>
            <pc:docMk/>
            <pc:sldMk cId="990472784" sldId="302"/>
            <ac:spMk id="4" creationId="{00000000-0000-0000-0000-000000000000}"/>
          </ac:spMkLst>
        </pc:spChg>
        <pc:spChg chg="mod">
          <ac:chgData name="Farzad Habibi" userId="fbeeb967-9b78-4012-b41a-a723c09ee9c3" providerId="ADAL" clId="{AEBEEF59-BF14-46FC-9618-A2BF0255DFAC}" dt="2026-08-19T22:57:31.815" v="3166" actId="20577"/>
          <ac:spMkLst>
            <pc:docMk/>
            <pc:sldMk cId="990472784" sldId="302"/>
            <ac:spMk id="8" creationId="{00000000-0000-0000-0000-000000000000}"/>
          </ac:spMkLst>
        </pc:spChg>
        <pc:picChg chg="add mod">
          <ac:chgData name="Farzad Habibi" userId="fbeeb967-9b78-4012-b41a-a723c09ee9c3" providerId="ADAL" clId="{AEBEEF59-BF14-46FC-9618-A2BF0255DFAC}" dt="2026-08-19T22:58:01.859" v="3199" actId="14100"/>
          <ac:picMkLst>
            <pc:docMk/>
            <pc:sldMk cId="990472784" sldId="302"/>
            <ac:picMk id="15" creationId="{5654E82D-70F1-5DD8-324D-74B460DEB948}"/>
          </ac:picMkLst>
        </pc:picChg>
      </pc:sldChg>
      <pc:sldChg chg="addSp delSp modSp new mod">
        <pc:chgData name="Farzad Habibi" userId="fbeeb967-9b78-4012-b41a-a723c09ee9c3" providerId="ADAL" clId="{AEBEEF59-BF14-46FC-9618-A2BF0255DFAC}" dt="2026-08-19T22:28:01.372" v="2802" actId="20577"/>
        <pc:sldMkLst>
          <pc:docMk/>
          <pc:sldMk cId="3521756953" sldId="303"/>
        </pc:sldMkLst>
      </pc:sldChg>
      <pc:sldChg chg="addSp delSp modSp add mod setBg">
        <pc:chgData name="Farzad Habibi" userId="fbeeb967-9b78-4012-b41a-a723c09ee9c3" providerId="ADAL" clId="{AEBEEF59-BF14-46FC-9618-A2BF0255DFAC}" dt="2026-08-19T22:59:37.235" v="3215" actId="478"/>
        <pc:sldMkLst>
          <pc:docMk/>
          <pc:sldMk cId="2644899830" sldId="305"/>
        </pc:sldMkLst>
        <pc:cxnChg chg="mod">
          <ac:chgData name="Farzad Habibi" userId="fbeeb967-9b78-4012-b41a-a723c09ee9c3" providerId="ADAL" clId="{AEBEEF59-BF14-46FC-9618-A2BF0255DFAC}" dt="2026-08-19T22:58:49.174" v="3207" actId="1076"/>
          <ac:cxnSpMkLst>
            <pc:docMk/>
            <pc:sldMk cId="2644899830" sldId="305"/>
            <ac:cxnSpMk id="26" creationId="{00000000-0000-0000-0000-000000000000}"/>
          </ac:cxnSpMkLst>
        </pc:cxnChg>
        <pc:cxnChg chg="add mod">
          <ac:chgData name="Farzad Habibi" userId="fbeeb967-9b78-4012-b41a-a723c09ee9c3" providerId="ADAL" clId="{AEBEEF59-BF14-46FC-9618-A2BF0255DFAC}" dt="2026-08-19T22:59:11.669" v="3212" actId="1076"/>
          <ac:cxnSpMkLst>
            <pc:docMk/>
            <pc:sldMk cId="2644899830" sldId="305"/>
            <ac:cxnSpMk id="41" creationId="{03624E10-EF20-466C-DB00-5D5E63FB306E}"/>
          </ac:cxnSpMkLst>
        </pc:cxnChg>
        <pc:cxnChg chg="add mod">
          <ac:chgData name="Farzad Habibi" userId="fbeeb967-9b78-4012-b41a-a723c09ee9c3" providerId="ADAL" clId="{AEBEEF59-BF14-46FC-9618-A2BF0255DFAC}" dt="2026-08-19T22:59:11.669" v="3212" actId="1076"/>
          <ac:cxnSpMkLst>
            <pc:docMk/>
            <pc:sldMk cId="2644899830" sldId="305"/>
            <ac:cxnSpMk id="42" creationId="{5F77C8CB-BCAA-3315-DAA3-83FC71F6739C}"/>
          </ac:cxnSpMkLst>
        </pc:cxnChg>
        <pc:cxnChg chg="add mod">
          <ac:chgData name="Farzad Habibi" userId="fbeeb967-9b78-4012-b41a-a723c09ee9c3" providerId="ADAL" clId="{AEBEEF59-BF14-46FC-9618-A2BF0255DFAC}" dt="2026-08-19T22:59:11.669" v="3212" actId="1076"/>
          <ac:cxnSpMkLst>
            <pc:docMk/>
            <pc:sldMk cId="2644899830" sldId="305"/>
            <ac:cxnSpMk id="43" creationId="{4F680A2B-D35C-7D2C-177E-B34F535FDD3C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9993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Background: goal, how</a:t>
            </a:r>
          </a:p>
          <a:p>
            <a:r>
              <a:rPr lang="en-US" dirty="0"/>
              <a:t>Test harness: for </a:t>
            </a:r>
            <a:r>
              <a:rPr lang="en-US" dirty="0" err="1"/>
              <a:t>xcvrd</a:t>
            </a:r>
            <a:r>
              <a:rPr lang="en-US" dirty="0"/>
              <a:t> e2e testing</a:t>
            </a:r>
          </a:p>
          <a:p>
            <a:r>
              <a:rPr lang="en-US" dirty="0" err="1"/>
              <a:t>Migrration</a:t>
            </a:r>
            <a:r>
              <a:rPr lang="en-US" dirty="0"/>
              <a:t> Framework – pipeline</a:t>
            </a:r>
          </a:p>
          <a:p>
            <a:r>
              <a:rPr lang="en-US" dirty="0"/>
              <a:t>See the rust port output</a:t>
            </a:r>
          </a:p>
          <a:p>
            <a:r>
              <a:rPr lang="en-US" dirty="0"/>
              <a:t>Next steps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First: </a:t>
            </a:r>
            <a:r>
              <a:rPr lang="en-US" dirty="0" err="1"/>
              <a:t>xcvrd</a:t>
            </a:r>
            <a:r>
              <a:rPr lang="en-US" dirty="0"/>
              <a:t> bring up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en-US" dirty="0"/>
              <a:t>Connecting and Injecting virtual platform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dirty="0"/>
              <a:t>Then we bring up the emulator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dirty="0"/>
              <a:t>Virtual platform connects to it via GRPC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dirty="0"/>
          </a:p>
          <a:p>
            <a:pPr marL="0" indent="0">
              <a:buFont typeface="Wingdings" panose="05000000000000000000" pitchFamily="2" charset="2"/>
              <a:buNone/>
            </a:pPr>
            <a:endParaRPr lang="en-US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dirty="0"/>
              <a:t>At the end the -&gt; Virtual </a:t>
            </a:r>
            <a:r>
              <a:rPr lang="en-US" dirty="0" err="1"/>
              <a:t>tesbed</a:t>
            </a:r>
            <a:r>
              <a:rPr lang="en-US" dirty="0"/>
              <a:t> runs daemon with an emulator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294152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Dut </a:t>
            </a:r>
          </a:p>
          <a:p>
            <a:r>
              <a:rPr lang="en-US" dirty="0"/>
              <a:t>Each part can be checked using different instruments</a:t>
            </a:r>
          </a:p>
          <a:p>
            <a:endParaRPr lang="en-US" dirty="0"/>
          </a:p>
          <a:p>
            <a:r>
              <a:rPr lang="en-US" dirty="0"/>
              <a:t> built a library to talk with each module </a:t>
            </a:r>
          </a:p>
          <a:p>
            <a:endParaRPr lang="en-US" dirty="0"/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en-US" dirty="0"/>
              <a:t>E2E test cases will use this </a:t>
            </a:r>
            <a:r>
              <a:rPr lang="en-US" dirty="0" err="1"/>
              <a:t>librry</a:t>
            </a:r>
            <a:r>
              <a:rPr lang="en-US" dirty="0"/>
              <a:t> to verify diff scenarios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endParaRPr lang="en-US" dirty="0"/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en-US" dirty="0"/>
              <a:t>Even tested physical errors such as I2C with injection tricks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All behaviors we expect from </a:t>
            </a:r>
            <a:r>
              <a:rPr lang="en-US" dirty="0" err="1"/>
              <a:t>xcvrd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Golden: Running different scenarios -&gt; capturing snapshot of </a:t>
            </a:r>
            <a:r>
              <a:rPr lang="en-US" dirty="0" err="1"/>
              <a:t>redis</a:t>
            </a:r>
            <a:r>
              <a:rPr lang="en-US" dirty="0"/>
              <a:t> </a:t>
            </a:r>
            <a:r>
              <a:rPr lang="en-US" dirty="0" err="1"/>
              <a:t>db</a:t>
            </a:r>
            <a:r>
              <a:rPr lang="en-US" dirty="0"/>
              <a:t> and check that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Started by looking into existing works </a:t>
            </a:r>
          </a:p>
          <a:p>
            <a:endParaRPr lang="en-US" dirty="0"/>
          </a:p>
          <a:p>
            <a:r>
              <a:rPr lang="en-US" dirty="0" err="1"/>
              <a:t>recodeAgent</a:t>
            </a:r>
            <a:r>
              <a:rPr lang="en-US" dirty="0"/>
              <a:t> -&gt; 4 step pipeline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This is </a:t>
            </a:r>
            <a:r>
              <a:rPr lang="en-US" dirty="0" err="1"/>
              <a:t>codeweaver’s</a:t>
            </a:r>
            <a:r>
              <a:rPr lang="en-US" dirty="0"/>
              <a:t> deterministic pipeline implemented using Apache Burr + Copilot cli</a:t>
            </a:r>
          </a:p>
          <a:p>
            <a:endParaRPr lang="en-US" dirty="0"/>
          </a:p>
          <a:p>
            <a:r>
              <a:rPr lang="en-US" dirty="0"/>
              <a:t>We’ll get into each part of this pipeline shortly </a:t>
            </a:r>
          </a:p>
          <a:p>
            <a:endParaRPr lang="en-US" dirty="0"/>
          </a:p>
          <a:p>
            <a:r>
              <a:rPr lang="en-US" dirty="0"/>
              <a:t>But you look into this pipeline as a state machine and each state will be given to a </a:t>
            </a:r>
            <a:r>
              <a:rPr lang="en-US" dirty="0" err="1"/>
              <a:t>github</a:t>
            </a:r>
            <a:r>
              <a:rPr lang="en-US" dirty="0"/>
              <a:t> copilot agent with instructions to update the state</a:t>
            </a:r>
          </a:p>
          <a:p>
            <a:r>
              <a:rPr lang="en-US" dirty="0"/>
              <a:t>The agents do all the real work; Burr just sequences them and can resume after a crash.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You can think of an agent as a big markdown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32FB3-60DC-EE90-C598-603CCBD79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9EF9C6-A031-C371-9A81-C25C6DFA59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9A012D-DBD1-9C8B-C876-A30E41D0AF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4DEC11-A821-BA9F-4525-63379F0120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299055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85DF6-4F87-75BC-9C3C-34C324E6D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2A56E7-30FC-4DD2-2EB6-EB259E32FA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6C82EA-87E3-0F97-C463-32245D3EF8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1E0DDE-09CB-F3E6-4142-BA7FD275E3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6230984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96109-A0C7-4E68-618F-1DAF1498B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4D9BD6-C0CE-0F53-A6B5-1E2C300C50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D55032-13A9-580C-6C45-979A40C3DC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B16745-4899-67DE-3AA7-14ACEFD3EC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669326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186FC-1082-1580-2C45-BD3EFADC2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3A43A9-DFEE-54A4-55BE-397A6DADC1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198510-EAA1-9B52-68B3-0E59DE67B2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637DE0-AB8F-02A9-0E95-6F944EF716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8782739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2960" y="1783080"/>
            <a:ext cx="106070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 i="0">
                <a:solidFill>
                  <a:srgbClr val="1F2328"/>
                </a:solidFill>
                <a:latin typeface="Georgia"/>
              </a:rPr>
              <a:t>From Python to Rust,</a:t>
            </a:r>
          </a:p>
          <a:p>
            <a:pPr algn="l"/>
            <a:r>
              <a:rPr sz="4800" b="1" i="0">
                <a:solidFill>
                  <a:srgbClr val="1F2328"/>
                </a:solidFill>
                <a:latin typeface="Georgia"/>
              </a:rPr>
              <a:t>Automatically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3703320"/>
            <a:ext cx="2834640" cy="0"/>
          </a:xfrm>
          <a:prstGeom prst="line">
            <a:avLst/>
          </a:prstGeom>
          <a:ln w="15875">
            <a:solidFill>
              <a:srgbClr val="C9CD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3886200"/>
            <a:ext cx="1060704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1" dirty="0">
                <a:solidFill>
                  <a:srgbClr val="36414A"/>
                </a:solidFill>
                <a:latin typeface="Calibri"/>
              </a:rPr>
              <a:t>Testing </a:t>
            </a:r>
            <a:r>
              <a:rPr lang="en-US" sz="2000" b="0" i="1" dirty="0">
                <a:solidFill>
                  <a:srgbClr val="36414A"/>
                </a:solidFill>
                <a:latin typeface="Calibri"/>
              </a:rPr>
              <a:t>the</a:t>
            </a:r>
            <a:r>
              <a:rPr sz="2000" b="0" i="1" dirty="0">
                <a:solidFill>
                  <a:srgbClr val="36414A"/>
                </a:solidFill>
                <a:latin typeface="Calibri"/>
              </a:rPr>
              <a:t> </a:t>
            </a:r>
            <a:r>
              <a:rPr sz="2000" b="0" i="1" dirty="0" err="1">
                <a:solidFill>
                  <a:srgbClr val="36414A"/>
                </a:solidFill>
                <a:latin typeface="Calibri"/>
              </a:rPr>
              <a:t>SONiC</a:t>
            </a:r>
            <a:r>
              <a:rPr sz="2000" b="0" i="1" dirty="0">
                <a:solidFill>
                  <a:srgbClr val="36414A"/>
                </a:solidFill>
                <a:latin typeface="Calibri"/>
              </a:rPr>
              <a:t> transceiver daemon with an emulator,</a:t>
            </a:r>
          </a:p>
          <a:p>
            <a:pPr algn="l"/>
            <a:r>
              <a:rPr sz="2000" b="0" i="1" dirty="0">
                <a:solidFill>
                  <a:srgbClr val="36414A"/>
                </a:solidFill>
                <a:latin typeface="Calibri"/>
              </a:rPr>
              <a:t>and porting it with a multi-agent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100584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F2328"/>
                </a:solidFill>
                <a:latin typeface="Calibri"/>
              </a:rPr>
              <a:t>Farzad</a:t>
            </a:r>
            <a:r>
              <a:rPr lang="en-US" sz="1400" b="1" i="0" dirty="0">
                <a:solidFill>
                  <a:srgbClr val="1F2328"/>
                </a:solidFill>
                <a:latin typeface="Calibri"/>
              </a:rPr>
              <a:t> Habibi ---</a:t>
            </a:r>
            <a:r>
              <a:rPr sz="1400" b="0" i="0" dirty="0">
                <a:solidFill>
                  <a:srgbClr val="6B7480"/>
                </a:solidFill>
                <a:latin typeface="Calibri"/>
              </a:rPr>
              <a:t>   August 18, 2026</a:t>
            </a:r>
          </a:p>
        </p:txBody>
      </p:sp>
      <p:pic>
        <p:nvPicPr>
          <p:cNvPr id="7" name="Picture 6" descr="m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1170" y="502920"/>
            <a:ext cx="2187702" cy="603504"/>
          </a:xfrm>
          <a:prstGeom prst="rect">
            <a:avLst/>
          </a:prstGeom>
        </p:spPr>
      </p:pic>
      <p:pic>
        <p:nvPicPr>
          <p:cNvPr id="8" name="Picture 7" descr="sonic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3109" y="1325880"/>
            <a:ext cx="1065762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777240"/>
            <a:ext cx="108813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800" b="1" i="0" dirty="0">
                <a:solidFill>
                  <a:srgbClr val="1F2328"/>
                </a:solidFill>
                <a:latin typeface="Georgia"/>
              </a:rPr>
              <a:t>Overview</a:t>
            </a:r>
            <a:endParaRPr sz="2800" b="1" i="0" dirty="0">
              <a:solidFill>
                <a:srgbClr val="1F2328"/>
              </a:solidFill>
              <a:latin typeface="Georgia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40080" y="1600200"/>
            <a:ext cx="10908792" cy="0"/>
          </a:xfrm>
          <a:prstGeom prst="line">
            <a:avLst/>
          </a:prstGeom>
          <a:ln w="12700">
            <a:solidFill>
              <a:srgbClr val="C9CD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40080" y="1874519"/>
            <a:ext cx="640080" cy="640080"/>
          </a:xfrm>
          <a:prstGeom prst="rect">
            <a:avLst/>
          </a:prstGeom>
          <a:solidFill>
            <a:srgbClr val="1F2328"/>
          </a:solidFill>
          <a:ln w="9525">
            <a:solidFill>
              <a:srgbClr val="1F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892807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F2328"/>
                </a:solidFill>
                <a:latin typeface="Calibri"/>
              </a:rPr>
              <a:t>Background &amp; 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258568"/>
            <a:ext cx="82296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 dirty="0" err="1">
                <a:solidFill>
                  <a:srgbClr val="6B7480"/>
                </a:solidFill>
                <a:latin typeface="Calibri"/>
              </a:rPr>
              <a:t>SONiC</a:t>
            </a:r>
            <a:r>
              <a:rPr sz="1250" b="0" i="0" dirty="0">
                <a:solidFill>
                  <a:srgbClr val="6B7480"/>
                </a:solidFill>
                <a:latin typeface="Calibri"/>
              </a:rPr>
              <a:t>, the </a:t>
            </a:r>
            <a:r>
              <a:rPr sz="1250" b="0" i="0" dirty="0" err="1">
                <a:solidFill>
                  <a:srgbClr val="6B7480"/>
                </a:solidFill>
                <a:latin typeface="Calibri"/>
              </a:rPr>
              <a:t>xcvrd</a:t>
            </a:r>
            <a:r>
              <a:rPr sz="1250" b="0" i="0" dirty="0">
                <a:solidFill>
                  <a:srgbClr val="6B7480"/>
                </a:solidFill>
                <a:latin typeface="Calibri"/>
              </a:rPr>
              <a:t> daemon, and why port it to Rust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70632"/>
            <a:ext cx="640080" cy="640080"/>
          </a:xfrm>
          <a:prstGeom prst="rect">
            <a:avLst/>
          </a:prstGeom>
          <a:solidFill>
            <a:srgbClr val="1F2328"/>
          </a:solidFill>
          <a:ln w="9525">
            <a:solidFill>
              <a:srgbClr val="1F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5011" y="2788920"/>
            <a:ext cx="795989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800" b="1" i="0" dirty="0">
                <a:solidFill>
                  <a:srgbClr val="1F2328"/>
                </a:solidFill>
                <a:latin typeface="Calibri"/>
              </a:rPr>
              <a:t>A</a:t>
            </a:r>
            <a:r>
              <a:rPr sz="1800" b="1" i="0" dirty="0">
                <a:solidFill>
                  <a:srgbClr val="1F2328"/>
                </a:solidFill>
                <a:latin typeface="Calibri"/>
              </a:rPr>
              <a:t> trustworthy test harness</a:t>
            </a:r>
            <a:r>
              <a:rPr lang="en-US" sz="1800" b="1" i="0" dirty="0">
                <a:solidFill>
                  <a:srgbClr val="1F2328"/>
                </a:solidFill>
                <a:latin typeface="Calibri"/>
              </a:rPr>
              <a:t> --  The Oracle</a:t>
            </a:r>
            <a:endParaRPr sz="1800" b="1" i="0" dirty="0">
              <a:solidFill>
                <a:srgbClr val="1F2328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63040" y="3154679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 dirty="0">
                <a:solidFill>
                  <a:srgbClr val="6B7480"/>
                </a:solidFill>
                <a:latin typeface="Calibri"/>
              </a:rPr>
              <a:t>emulator + black-box end-to-end tests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666744"/>
            <a:ext cx="640080" cy="640080"/>
          </a:xfrm>
          <a:prstGeom prst="rect">
            <a:avLst/>
          </a:prstGeom>
          <a:solidFill>
            <a:srgbClr val="1F2328"/>
          </a:solidFill>
          <a:ln w="9525">
            <a:solidFill>
              <a:srgbClr val="1F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685031"/>
            <a:ext cx="78638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 dirty="0">
                <a:solidFill>
                  <a:srgbClr val="1F2328"/>
                </a:solidFill>
                <a:latin typeface="Calibri"/>
              </a:rPr>
              <a:t>A</a:t>
            </a:r>
            <a:r>
              <a:rPr sz="1800" b="1" i="0" dirty="0">
                <a:solidFill>
                  <a:srgbClr val="1F2328"/>
                </a:solidFill>
                <a:latin typeface="Calibri"/>
              </a:rPr>
              <a:t>utomated Python → Rust migration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050791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B7480"/>
                </a:solidFill>
                <a:latin typeface="Calibri"/>
              </a:rPr>
              <a:t>the ReCode Agent multi-agent pipeline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562856"/>
            <a:ext cx="640080" cy="640080"/>
          </a:xfrm>
          <a:prstGeom prst="rect">
            <a:avLst/>
          </a:prstGeom>
          <a:solidFill>
            <a:srgbClr val="1F2328"/>
          </a:solidFill>
          <a:ln w="9525">
            <a:solidFill>
              <a:srgbClr val="1F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5011" y="5809257"/>
            <a:ext cx="82296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 dirty="0">
                <a:solidFill>
                  <a:srgbClr val="6B7480"/>
                </a:solidFill>
                <a:latin typeface="Calibri"/>
              </a:rPr>
              <a:t>closing the </a:t>
            </a:r>
            <a:r>
              <a:rPr lang="en-US" sz="1250" dirty="0">
                <a:solidFill>
                  <a:srgbClr val="6B7480"/>
                </a:solidFill>
                <a:latin typeface="Calibri"/>
              </a:rPr>
              <a:t>performance gap</a:t>
            </a:r>
            <a:endParaRPr sz="1250" b="0" i="0" dirty="0">
              <a:solidFill>
                <a:srgbClr val="6B7480"/>
              </a:solidFill>
              <a:latin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40080" y="5458968"/>
            <a:ext cx="640080" cy="640080"/>
          </a:xfrm>
          <a:prstGeom prst="rect">
            <a:avLst/>
          </a:prstGeom>
          <a:solidFill>
            <a:srgbClr val="1F2328"/>
          </a:solidFill>
          <a:ln w="9525">
            <a:solidFill>
              <a:srgbClr val="1F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06B25B-F4EB-115B-A0BB-9915B68F1B9C}"/>
              </a:ext>
            </a:extLst>
          </p:cNvPr>
          <p:cNvSpPr txBox="1"/>
          <p:nvPr/>
        </p:nvSpPr>
        <p:spPr>
          <a:xfrm>
            <a:off x="1415011" y="5482890"/>
            <a:ext cx="78638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 dirty="0">
                <a:solidFill>
                  <a:srgbClr val="1F2328"/>
                </a:solidFill>
                <a:latin typeface="Calibri"/>
              </a:rPr>
              <a:t>Next Step -- Benchmarking</a:t>
            </a:r>
            <a:endParaRPr sz="1800" b="1" i="0" dirty="0">
              <a:solidFill>
                <a:srgbClr val="1F2328"/>
              </a:solidFill>
              <a:latin typeface="Calibri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8A74A24-DE43-64CD-37D3-A51B80117A60}"/>
              </a:ext>
            </a:extLst>
          </p:cNvPr>
          <p:cNvSpPr txBox="1"/>
          <p:nvPr/>
        </p:nvSpPr>
        <p:spPr>
          <a:xfrm>
            <a:off x="1463040" y="4976795"/>
            <a:ext cx="82296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50" b="0" i="0" dirty="0">
                <a:solidFill>
                  <a:srgbClr val="6B7480"/>
                </a:solidFill>
                <a:latin typeface="Calibri"/>
              </a:rPr>
              <a:t>Sonic-</a:t>
            </a:r>
            <a:r>
              <a:rPr lang="en-US" sz="1250" b="0" i="0" dirty="0" err="1">
                <a:solidFill>
                  <a:srgbClr val="6B7480"/>
                </a:solidFill>
                <a:latin typeface="Calibri"/>
              </a:rPr>
              <a:t>mgmt</a:t>
            </a:r>
            <a:r>
              <a:rPr lang="en-US" sz="1250" b="0" i="0" dirty="0">
                <a:solidFill>
                  <a:srgbClr val="6B7480"/>
                </a:solidFill>
                <a:latin typeface="Calibri"/>
              </a:rPr>
              <a:t> tests </a:t>
            </a:r>
            <a:endParaRPr sz="1250" b="0" i="0" dirty="0">
              <a:solidFill>
                <a:srgbClr val="6B7480"/>
              </a:solidFill>
              <a:latin typeface="Calibri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13BAEDF-C14D-955A-F862-F9AA7879EDE2}"/>
              </a:ext>
            </a:extLst>
          </p:cNvPr>
          <p:cNvSpPr txBox="1"/>
          <p:nvPr/>
        </p:nvSpPr>
        <p:spPr>
          <a:xfrm>
            <a:off x="1463040" y="4650428"/>
            <a:ext cx="78638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 dirty="0">
                <a:solidFill>
                  <a:srgbClr val="1F2328"/>
                </a:solidFill>
                <a:latin typeface="Calibri"/>
              </a:rPr>
              <a:t>Results</a:t>
            </a:r>
            <a:endParaRPr sz="1800" b="1" i="0" dirty="0">
              <a:solidFill>
                <a:srgbClr val="1F232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777240"/>
            <a:ext cx="108813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>
                <a:solidFill>
                  <a:srgbClr val="1F2328"/>
                </a:solidFill>
                <a:latin typeface="Georgia"/>
              </a:rPr>
              <a:t>One goal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600200"/>
            <a:ext cx="10908792" cy="0"/>
          </a:xfrm>
          <a:prstGeom prst="line">
            <a:avLst/>
          </a:prstGeom>
          <a:ln w="12700">
            <a:solidFill>
              <a:srgbClr val="C9CD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82880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F2328"/>
                </a:solidFill>
                <a:latin typeface="Calibri"/>
              </a:rPr>
              <a:t>Goal:  </a:t>
            </a:r>
            <a:r>
              <a:rPr sz="1700" b="0" i="0">
                <a:solidFill>
                  <a:srgbClr val="36414A"/>
                </a:solidFill>
                <a:latin typeface="Calibri"/>
              </a:rPr>
              <a:t>port </a:t>
            </a:r>
            <a:r>
              <a:rPr sz="1700" b="1" i="0">
                <a:solidFill>
                  <a:srgbClr val="1F2328"/>
                </a:solidFill>
                <a:latin typeface="Consolas"/>
              </a:rPr>
              <a:t>xcvrd</a:t>
            </a:r>
            <a:r>
              <a:rPr sz="1700" b="0" i="0">
                <a:solidFill>
                  <a:srgbClr val="36414A"/>
                </a:solidFill>
                <a:latin typeface="Calibri"/>
              </a:rPr>
              <a:t> (a SONiC daemon) from Python to Rust — </a:t>
            </a:r>
            <a:r>
              <a:rPr sz="1700" b="1" i="0">
                <a:solidFill>
                  <a:srgbClr val="1F2328"/>
                </a:solidFill>
                <a:latin typeface="Calibri"/>
              </a:rPr>
              <a:t>safely and verifiably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514600"/>
            <a:ext cx="5349240" cy="233172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670048"/>
            <a:ext cx="493776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500" b="1" i="0" dirty="0">
                <a:solidFill>
                  <a:srgbClr val="1F2328"/>
                </a:solidFill>
                <a:latin typeface="Calibri"/>
              </a:rPr>
              <a:t>Verification</a:t>
            </a:r>
            <a:endParaRPr sz="1500" b="1" i="0" dirty="0">
              <a:solidFill>
                <a:srgbClr val="1F2328"/>
              </a:solidFill>
              <a:latin typeface="Calibri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868680" y="3063240"/>
            <a:ext cx="4892040" cy="0"/>
          </a:xfrm>
          <a:prstGeom prst="line">
            <a:avLst/>
          </a:prstGeom>
          <a:ln w="12700">
            <a:solidFill>
              <a:srgbClr val="C9CD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86968" y="3200400"/>
            <a:ext cx="4892040" cy="8515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>
              <a:spcAft>
                <a:spcPts val="800"/>
              </a:spcAft>
              <a:buFont typeface="Calibri"/>
              <a:buChar char="–"/>
            </a:pPr>
            <a:r>
              <a:rPr sz="1400" b="0" i="0" dirty="0">
                <a:solidFill>
                  <a:srgbClr val="36414A"/>
                </a:solidFill>
                <a:latin typeface="Calibri"/>
              </a:rPr>
              <a:t>Build a </a:t>
            </a:r>
            <a:r>
              <a:rPr sz="1400" b="1" i="0" dirty="0">
                <a:solidFill>
                  <a:srgbClr val="1F2328"/>
                </a:solidFill>
                <a:latin typeface="Calibri"/>
              </a:rPr>
              <a:t>ground-truth oracle</a:t>
            </a:r>
          </a:p>
          <a:p>
            <a:pPr marL="256032" indent="-256032">
              <a:spcAft>
                <a:spcPts val="800"/>
              </a:spcAft>
              <a:buFont typeface="Calibri"/>
              <a:buChar char="–"/>
            </a:pPr>
            <a:r>
              <a:rPr sz="1400" b="0" i="0" dirty="0">
                <a:solidFill>
                  <a:srgbClr val="36414A"/>
                </a:solidFill>
                <a:latin typeface="Calibri"/>
              </a:rPr>
              <a:t>Emulator + </a:t>
            </a:r>
            <a:r>
              <a:rPr lang="en-US" sz="1400" b="0" i="0" dirty="0">
                <a:solidFill>
                  <a:srgbClr val="36414A"/>
                </a:solidFill>
                <a:latin typeface="Calibri"/>
              </a:rPr>
              <a:t>E2E </a:t>
            </a:r>
            <a:r>
              <a:rPr sz="1400" b="0" i="0" dirty="0">
                <a:solidFill>
                  <a:srgbClr val="36414A"/>
                </a:solidFill>
                <a:latin typeface="Calibri"/>
              </a:rPr>
              <a:t>tests</a:t>
            </a:r>
          </a:p>
          <a:p>
            <a:pPr marL="256032" indent="-256032">
              <a:spcAft>
                <a:spcPts val="800"/>
              </a:spcAft>
              <a:buFont typeface="Calibri"/>
              <a:buChar char="–"/>
            </a:pPr>
            <a:r>
              <a:rPr sz="1400" b="0" i="0" dirty="0">
                <a:solidFill>
                  <a:srgbClr val="36414A"/>
                </a:solidFill>
                <a:latin typeface="Calibri"/>
              </a:rPr>
              <a:t>Run the real daemon, assert on real state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2514600"/>
            <a:ext cx="5349240" cy="2331720"/>
          </a:xfrm>
          <a:prstGeom prst="rect">
            <a:avLst/>
          </a:prstGeom>
          <a:solidFill>
            <a:srgbClr val="1F2328"/>
          </a:solidFill>
          <a:ln w="9525">
            <a:solidFill>
              <a:srgbClr val="1F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232" y="2670048"/>
            <a:ext cx="493776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dirty="0">
                <a:solidFill>
                  <a:srgbClr val="FFFFFF"/>
                </a:solidFill>
                <a:latin typeface="Calibri"/>
              </a:rPr>
              <a:t>Automat</a:t>
            </a:r>
            <a:r>
              <a:rPr lang="en-US" sz="1500" b="1" dirty="0">
                <a:solidFill>
                  <a:srgbClr val="FFFFFF"/>
                </a:solidFill>
                <a:latin typeface="Calibri"/>
              </a:rPr>
              <a:t>ic Code Migration</a:t>
            </a:r>
            <a:endParaRPr sz="1500" b="1" i="0" dirty="0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6428232" y="3063240"/>
            <a:ext cx="4892040" cy="0"/>
          </a:xfrm>
          <a:prstGeom prst="line">
            <a:avLst/>
          </a:prstGeom>
          <a:ln w="12700">
            <a:solidFill>
              <a:srgbClr val="3641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46520" y="3200400"/>
            <a:ext cx="4892040" cy="8515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>
              <a:spcAft>
                <a:spcPts val="800"/>
              </a:spcAft>
              <a:buFont typeface="Calibri"/>
              <a:buChar char="–"/>
            </a:pPr>
            <a:r>
              <a:rPr sz="1400" b="1" i="0" dirty="0">
                <a:solidFill>
                  <a:srgbClr val="FFFFFF"/>
                </a:solidFill>
                <a:latin typeface="Calibri"/>
              </a:rPr>
              <a:t>Multi-agent pipeline</a:t>
            </a:r>
          </a:p>
          <a:p>
            <a:pPr marL="256032" indent="-256032">
              <a:spcAft>
                <a:spcPts val="800"/>
              </a:spcAft>
              <a:buFont typeface="Calibri"/>
              <a:buChar char="–"/>
            </a:pPr>
            <a:r>
              <a:rPr sz="1400" b="0" i="0" dirty="0">
                <a:solidFill>
                  <a:srgbClr val="9AA2AB"/>
                </a:solidFill>
                <a:latin typeface="Calibri"/>
              </a:rPr>
              <a:t>LLM translates Python → Rust</a:t>
            </a:r>
          </a:p>
          <a:p>
            <a:pPr marL="256032" indent="-256032">
              <a:spcAft>
                <a:spcPts val="800"/>
              </a:spcAft>
              <a:buFont typeface="Calibri"/>
              <a:buChar char="–"/>
            </a:pPr>
            <a:r>
              <a:rPr sz="1400" b="0" i="0" dirty="0">
                <a:solidFill>
                  <a:srgbClr val="9AA2AB"/>
                </a:solidFill>
                <a:latin typeface="Calibri"/>
              </a:rPr>
              <a:t>Self-validates against </a:t>
            </a:r>
            <a:r>
              <a:rPr lang="en-US" sz="1400" dirty="0">
                <a:solidFill>
                  <a:srgbClr val="9AA2AB"/>
                </a:solidFill>
                <a:latin typeface="Calibri"/>
              </a:rPr>
              <a:t>the oracle</a:t>
            </a:r>
            <a:endParaRPr sz="1400" b="0" i="0" dirty="0">
              <a:solidFill>
                <a:srgbClr val="9AA2AB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806440" y="2514600"/>
            <a:ext cx="411480" cy="2331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120640"/>
            <a:ext cx="108813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1F2328"/>
                </a:solidFill>
                <a:latin typeface="Calibri"/>
              </a:rPr>
              <a:t>Outcome:  </a:t>
            </a:r>
            <a:r>
              <a:rPr sz="1600" b="0" i="0" dirty="0">
                <a:solidFill>
                  <a:srgbClr val="36414A"/>
                </a:solidFill>
                <a:latin typeface="Calibri"/>
              </a:rPr>
              <a:t>a Rust port that passes every </a:t>
            </a:r>
            <a:r>
              <a:rPr lang="en-US" sz="1600" b="0" i="0" dirty="0">
                <a:solidFill>
                  <a:srgbClr val="36414A"/>
                </a:solidFill>
                <a:latin typeface="Calibri"/>
              </a:rPr>
              <a:t>test</a:t>
            </a:r>
            <a:r>
              <a:rPr sz="1600" b="0" i="0" dirty="0">
                <a:solidFill>
                  <a:srgbClr val="36414A"/>
                </a:solidFill>
                <a:latin typeface="Calibri"/>
              </a:rPr>
              <a:t>.  </a:t>
            </a:r>
            <a:r>
              <a:rPr sz="1600" b="1" i="1" dirty="0">
                <a:solidFill>
                  <a:srgbClr val="3B7A57"/>
                </a:solidFill>
                <a:latin typeface="Calibri"/>
              </a:rPr>
              <a:t>You can only automate what you can verify.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2328"/>
                </a:solidFill>
                <a:latin typeface="Georgia"/>
              </a:rPr>
              <a:t>Why port to Rust?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600200"/>
            <a:ext cx="10908792" cy="0"/>
          </a:xfrm>
          <a:prstGeom prst="line">
            <a:avLst/>
          </a:prstGeom>
          <a:ln w="12700">
            <a:solidFill>
              <a:srgbClr val="C9CD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874519"/>
            <a:ext cx="10881360" cy="21287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>
              <a:spcAft>
                <a:spcPts val="1600"/>
              </a:spcAft>
              <a:buFont typeface="Calibri"/>
              <a:buChar char="–"/>
            </a:pPr>
            <a:r>
              <a:rPr lang="en-US" sz="1700" b="1" i="0" dirty="0">
                <a:solidFill>
                  <a:srgbClr val="1F2328"/>
                </a:solidFill>
                <a:latin typeface="Calibri"/>
              </a:rPr>
              <a:t>Memory safety without a garbage collector</a:t>
            </a:r>
            <a:r>
              <a:rPr lang="en-US" sz="1700" b="0" i="0" dirty="0">
                <a:solidFill>
                  <a:srgbClr val="36414A"/>
                </a:solidFill>
                <a:latin typeface="Calibri"/>
              </a:rPr>
              <a:t>  —  no data races, no use-after-free, enforced at compile time</a:t>
            </a:r>
          </a:p>
          <a:p>
            <a:pPr marL="256032" indent="-256032">
              <a:spcAft>
                <a:spcPts val="1600"/>
              </a:spcAft>
              <a:buFont typeface="Calibri"/>
              <a:buChar char="–"/>
            </a:pPr>
            <a:r>
              <a:rPr lang="en-US" sz="1700" b="1" i="0" dirty="0">
                <a:solidFill>
                  <a:srgbClr val="1F2328"/>
                </a:solidFill>
                <a:latin typeface="Calibri"/>
              </a:rPr>
              <a:t>Predictable performance</a:t>
            </a:r>
            <a:r>
              <a:rPr lang="en-US" sz="1700" b="0" i="0" dirty="0">
                <a:solidFill>
                  <a:srgbClr val="36414A"/>
                </a:solidFill>
                <a:latin typeface="Calibri"/>
              </a:rPr>
              <a:t>  —  no GC pauses in a long-running monitor loop</a:t>
            </a:r>
          </a:p>
          <a:p>
            <a:pPr marL="256032" indent="-256032">
              <a:spcAft>
                <a:spcPts val="1600"/>
              </a:spcAft>
              <a:buFont typeface="Calibri"/>
              <a:buChar char="–"/>
            </a:pPr>
            <a:r>
              <a:rPr lang="en-US" sz="1700" b="1" i="0" dirty="0">
                <a:solidFill>
                  <a:srgbClr val="1F2328"/>
                </a:solidFill>
                <a:latin typeface="Calibri"/>
              </a:rPr>
              <a:t>Strong types &amp; exhaustive matching</a:t>
            </a:r>
            <a:r>
              <a:rPr lang="en-US" sz="1700" b="0" i="0" dirty="0">
                <a:solidFill>
                  <a:srgbClr val="36414A"/>
                </a:solidFill>
                <a:latin typeface="Calibri"/>
              </a:rPr>
              <a:t>  —  catch protocol / EEPROM-parsing bugs before runtime</a:t>
            </a:r>
          </a:p>
          <a:p>
            <a:pPr marL="256032" indent="-256032">
              <a:spcAft>
                <a:spcPts val="1600"/>
              </a:spcAft>
              <a:buFont typeface="Calibri"/>
              <a:buChar char="–"/>
            </a:pPr>
            <a:r>
              <a:rPr lang="en-US" sz="1700" b="1" i="0" dirty="0">
                <a:solidFill>
                  <a:srgbClr val="1F2328"/>
                </a:solidFill>
                <a:latin typeface="Calibri"/>
              </a:rPr>
              <a:t>Reliability &amp; maintainability</a:t>
            </a:r>
            <a:r>
              <a:rPr lang="en-US" sz="1700" b="0" i="0" dirty="0">
                <a:solidFill>
                  <a:srgbClr val="36414A"/>
                </a:solidFill>
                <a:latin typeface="Calibri"/>
              </a:rPr>
              <a:t>  —  a good fit for infrastructure daemons on the switch</a:t>
            </a:r>
          </a:p>
          <a:p>
            <a:pPr marL="256032" indent="-256032">
              <a:spcAft>
                <a:spcPts val="1600"/>
              </a:spcAft>
              <a:buFont typeface="Calibri"/>
              <a:buChar char="–"/>
            </a:pPr>
            <a:r>
              <a:rPr lang="en-US" sz="1700" b="1" i="0" dirty="0">
                <a:solidFill>
                  <a:srgbClr val="1F2328"/>
                </a:solidFill>
                <a:latin typeface="Calibri"/>
              </a:rPr>
              <a:t>Easy for LLMs to target</a:t>
            </a:r>
            <a:r>
              <a:rPr lang="en-US" sz="1700" b="0" i="0" dirty="0">
                <a:solidFill>
                  <a:srgbClr val="36414A"/>
                </a:solidFill>
                <a:latin typeface="Calibri"/>
              </a:rPr>
              <a:t>  —  the compiler + strong types catch a wrong translation fast, keeping automated porting feasible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777240"/>
            <a:ext cx="108813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>
                <a:solidFill>
                  <a:srgbClr val="1F2328"/>
                </a:solidFill>
                <a:latin typeface="Georgia"/>
              </a:rPr>
              <a:t>Why </a:t>
            </a:r>
            <a:r>
              <a:rPr lang="en-US" sz="2800" b="1" i="0" dirty="0">
                <a:solidFill>
                  <a:srgbClr val="1F2328"/>
                </a:solidFill>
                <a:latin typeface="Georgia"/>
              </a:rPr>
              <a:t>it’s not simple</a:t>
            </a:r>
            <a:r>
              <a:rPr sz="2800" b="1" i="0" dirty="0">
                <a:solidFill>
                  <a:srgbClr val="1F2328"/>
                </a:solidFill>
                <a:latin typeface="Georgia"/>
              </a:rPr>
              <a:t>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600200"/>
            <a:ext cx="10908792" cy="0"/>
          </a:xfrm>
          <a:prstGeom prst="line">
            <a:avLst/>
          </a:prstGeom>
          <a:ln w="12700">
            <a:solidFill>
              <a:srgbClr val="C9CD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874519"/>
            <a:ext cx="10881360" cy="18081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>
              <a:spcAft>
                <a:spcPts val="1500"/>
              </a:spcAft>
              <a:buFont typeface="Calibri"/>
              <a:buChar char="–"/>
            </a:pPr>
            <a:r>
              <a:rPr sz="1600" b="1" i="0" dirty="0">
                <a:solidFill>
                  <a:srgbClr val="1F2328"/>
                </a:solidFill>
                <a:latin typeface="Calibri"/>
              </a:rPr>
              <a:t>LLM code translation is unreliable at scale</a:t>
            </a:r>
            <a:r>
              <a:rPr sz="1600" b="0" i="0" dirty="0">
                <a:solidFill>
                  <a:srgbClr val="36414A"/>
                </a:solidFill>
                <a:latin typeface="Calibri"/>
              </a:rPr>
              <a:t>  —  plausible-looking Rust that's subtly wrong; needs verification, not trust</a:t>
            </a:r>
          </a:p>
          <a:p>
            <a:pPr marL="256032" indent="-256032">
              <a:spcAft>
                <a:spcPts val="1500"/>
              </a:spcAft>
              <a:buFont typeface="Calibri"/>
              <a:buChar char="–"/>
            </a:pPr>
            <a:r>
              <a:rPr sz="1600" b="1" i="0" dirty="0" err="1">
                <a:solidFill>
                  <a:srgbClr val="1F2328"/>
                </a:solidFill>
                <a:latin typeface="Calibri"/>
              </a:rPr>
              <a:t>xcvrd</a:t>
            </a:r>
            <a:r>
              <a:rPr sz="1600" b="1" i="0" dirty="0">
                <a:solidFill>
                  <a:srgbClr val="1F2328"/>
                </a:solidFill>
                <a:latin typeface="Calibri"/>
              </a:rPr>
              <a:t> behavior depends on real transceiver hardware</a:t>
            </a:r>
            <a:r>
              <a:rPr sz="1600" b="0" i="0" dirty="0">
                <a:solidFill>
                  <a:srgbClr val="36414A"/>
                </a:solidFill>
                <a:latin typeface="Calibri"/>
              </a:rPr>
              <a:t>  —  presence events, EEPROM pages, CMIS state machines</a:t>
            </a:r>
          </a:p>
          <a:p>
            <a:pPr marL="256032" indent="-256032">
              <a:spcAft>
                <a:spcPts val="1500"/>
              </a:spcAft>
              <a:buFont typeface="Calibri"/>
              <a:buChar char="–"/>
            </a:pPr>
            <a:r>
              <a:rPr sz="1600" b="1" i="0" dirty="0">
                <a:solidFill>
                  <a:srgbClr val="1F2328"/>
                </a:solidFill>
                <a:latin typeface="Calibri"/>
              </a:rPr>
              <a:t>Existing unit tests are heavily mocked</a:t>
            </a:r>
            <a:r>
              <a:rPr sz="1600" b="0" i="0" dirty="0">
                <a:solidFill>
                  <a:srgbClr val="36414A"/>
                </a:solidFill>
                <a:latin typeface="Calibri"/>
              </a:rPr>
              <a:t>  —  they exercise Python plumbing, not real end-to-end behavior</a:t>
            </a:r>
          </a:p>
          <a:p>
            <a:pPr marL="256032" indent="-256032">
              <a:spcAft>
                <a:spcPts val="1500"/>
              </a:spcAft>
              <a:buFont typeface="Calibri"/>
              <a:buChar char="–"/>
            </a:pPr>
            <a:r>
              <a:rPr sz="1600" b="1" i="0" dirty="0">
                <a:solidFill>
                  <a:srgbClr val="1F2328"/>
                </a:solidFill>
                <a:latin typeface="Calibri"/>
              </a:rPr>
              <a:t>Even sonic-</a:t>
            </a:r>
            <a:r>
              <a:rPr sz="1600" b="1" i="0" dirty="0" err="1">
                <a:solidFill>
                  <a:srgbClr val="1F2328"/>
                </a:solidFill>
                <a:latin typeface="Calibri"/>
              </a:rPr>
              <a:t>mgmt</a:t>
            </a:r>
            <a:r>
              <a:rPr sz="1600" b="1" i="0" dirty="0">
                <a:solidFill>
                  <a:srgbClr val="1F2328"/>
                </a:solidFill>
                <a:latin typeface="Calibri"/>
              </a:rPr>
              <a:t> tests aren't enough</a:t>
            </a:r>
            <a:r>
              <a:rPr sz="1600" b="0" i="0" dirty="0">
                <a:solidFill>
                  <a:srgbClr val="36414A"/>
                </a:solidFill>
                <a:latin typeface="Calibri"/>
              </a:rPr>
              <a:t>  —  neither the mocked unit tests nor sonic-</a:t>
            </a:r>
            <a:r>
              <a:rPr sz="1600" b="0" i="0" dirty="0" err="1">
                <a:solidFill>
                  <a:srgbClr val="36414A"/>
                </a:solidFill>
                <a:latin typeface="Calibri"/>
              </a:rPr>
              <a:t>mgmt</a:t>
            </a:r>
            <a:r>
              <a:rPr sz="1600" b="0" i="0" dirty="0">
                <a:solidFill>
                  <a:srgbClr val="36414A"/>
                </a:solidFill>
                <a:latin typeface="Calibri"/>
              </a:rPr>
              <a:t> fully exercise </a:t>
            </a:r>
            <a:r>
              <a:rPr sz="1600" b="0" i="0" dirty="0" err="1">
                <a:solidFill>
                  <a:srgbClr val="36414A"/>
                </a:solidFill>
                <a:latin typeface="Calibri"/>
              </a:rPr>
              <a:t>xcvrd</a:t>
            </a:r>
            <a:endParaRPr sz="1600" b="0" i="0" dirty="0">
              <a:solidFill>
                <a:srgbClr val="36414A"/>
              </a:solidFill>
              <a:latin typeface="Calibri"/>
            </a:endParaRPr>
          </a:p>
          <a:p>
            <a:pPr marL="256032" indent="-256032">
              <a:spcAft>
                <a:spcPts val="1500"/>
              </a:spcAft>
              <a:buFont typeface="Calibri"/>
              <a:buChar char="–"/>
            </a:pPr>
            <a:r>
              <a:rPr sz="1600" b="1" i="0" dirty="0">
                <a:solidFill>
                  <a:srgbClr val="3B7A57"/>
                </a:solidFill>
                <a:latin typeface="Calibri"/>
              </a:rPr>
              <a:t>So:  </a:t>
            </a:r>
            <a:r>
              <a:rPr sz="1600" b="0" i="1" dirty="0">
                <a:solidFill>
                  <a:srgbClr val="36414A"/>
                </a:solidFill>
                <a:latin typeface="Calibri"/>
              </a:rPr>
              <a:t>we need a hardware-free but faithful oracle before we can trust any automated 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2960" y="1737360"/>
            <a:ext cx="9601200" cy="1292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4200" b="1" i="0" dirty="0">
                <a:solidFill>
                  <a:srgbClr val="1F2328"/>
                </a:solidFill>
                <a:latin typeface="Georgia"/>
              </a:rPr>
              <a:t>The Oracle: </a:t>
            </a:r>
            <a:r>
              <a:rPr sz="4200" b="1" i="0" dirty="0">
                <a:solidFill>
                  <a:srgbClr val="1F2328"/>
                </a:solidFill>
                <a:latin typeface="Georgia"/>
              </a:rPr>
              <a:t>A trustworthy test harness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2926080"/>
            <a:ext cx="2834640" cy="0"/>
          </a:xfrm>
          <a:prstGeom prst="line">
            <a:avLst/>
          </a:prstGeom>
          <a:ln w="15875">
            <a:solidFill>
              <a:srgbClr val="C9CD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68680" y="3246120"/>
            <a:ext cx="10424160" cy="15081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>
              <a:spcAft>
                <a:spcPts val="1200"/>
              </a:spcAft>
              <a:buFont typeface="Calibri"/>
              <a:buChar char="–"/>
            </a:pPr>
            <a:r>
              <a:rPr lang="en-US" sz="1700" dirty="0">
                <a:solidFill>
                  <a:srgbClr val="36414A"/>
                </a:solidFill>
                <a:latin typeface="Calibri"/>
              </a:rPr>
              <a:t>End-to-end testing for xcvrd</a:t>
            </a:r>
            <a:endParaRPr lang="en-US" sz="1700" b="0" i="0" dirty="0">
              <a:solidFill>
                <a:srgbClr val="36414A"/>
              </a:solidFill>
              <a:latin typeface="Calibri"/>
            </a:endParaRPr>
          </a:p>
          <a:p>
            <a:pPr marL="256032" indent="-256032">
              <a:spcAft>
                <a:spcPts val="1200"/>
              </a:spcAft>
              <a:buFont typeface="Calibri"/>
              <a:buChar char="–"/>
            </a:pPr>
            <a:r>
              <a:rPr lang="en-US" sz="1700" b="0" i="0" dirty="0">
                <a:solidFill>
                  <a:srgbClr val="36414A"/>
                </a:solidFill>
                <a:latin typeface="Calibri"/>
              </a:rPr>
              <a:t>The </a:t>
            </a:r>
            <a:r>
              <a:rPr lang="en-US" sz="1700" b="1" i="0" dirty="0" err="1">
                <a:solidFill>
                  <a:srgbClr val="1F2328"/>
                </a:solidFill>
                <a:latin typeface="Calibri"/>
              </a:rPr>
              <a:t>xcvr</a:t>
            </a:r>
            <a:r>
              <a:rPr lang="en-US" sz="1700" b="1" i="0" dirty="0">
                <a:solidFill>
                  <a:srgbClr val="1F2328"/>
                </a:solidFill>
                <a:latin typeface="Calibri"/>
              </a:rPr>
              <a:t>-emu</a:t>
            </a:r>
            <a:r>
              <a:rPr lang="en-US" sz="1700" b="0" i="0" dirty="0">
                <a:solidFill>
                  <a:srgbClr val="36414A"/>
                </a:solidFill>
                <a:latin typeface="Calibri"/>
              </a:rPr>
              <a:t> emulator + a virtual </a:t>
            </a:r>
            <a:r>
              <a:rPr lang="en-US" sz="1700" b="0" i="0" dirty="0" err="1">
                <a:solidFill>
                  <a:srgbClr val="36414A"/>
                </a:solidFill>
                <a:latin typeface="Calibri"/>
              </a:rPr>
              <a:t>optoe</a:t>
            </a:r>
            <a:endParaRPr lang="en-US" sz="1700" b="0" i="0" dirty="0">
              <a:solidFill>
                <a:srgbClr val="36414A"/>
              </a:solidFill>
              <a:latin typeface="Calibri"/>
            </a:endParaRPr>
          </a:p>
          <a:p>
            <a:pPr marL="256032" indent="-256032">
              <a:spcAft>
                <a:spcPts val="1200"/>
              </a:spcAft>
              <a:buFont typeface="Calibri"/>
              <a:buChar char="–"/>
            </a:pPr>
            <a:r>
              <a:rPr lang="en-US" sz="1700" b="0" i="0" dirty="0">
                <a:solidFill>
                  <a:srgbClr val="36414A"/>
                </a:solidFill>
                <a:latin typeface="Calibri"/>
              </a:rPr>
              <a:t>~100 end-to-end tests for the xcvrd module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2328"/>
                </a:solidFill>
                <a:latin typeface="Georgia"/>
              </a:rPr>
              <a:t>xcvr-emu — the transceiver emulator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600200"/>
            <a:ext cx="10908792" cy="0"/>
          </a:xfrm>
          <a:prstGeom prst="line">
            <a:avLst/>
          </a:prstGeom>
          <a:ln w="12700">
            <a:solidFill>
              <a:srgbClr val="C9CD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874519"/>
            <a:ext cx="10881360" cy="19800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>
              <a:spcAft>
                <a:spcPts val="1400"/>
              </a:spcAft>
              <a:buFont typeface="Calibri"/>
              <a:buChar char="–"/>
            </a:pPr>
            <a:r>
              <a:rPr sz="1600" b="0" i="0" dirty="0">
                <a:solidFill>
                  <a:srgbClr val="36414A"/>
                </a:solidFill>
                <a:latin typeface="Calibri"/>
              </a:rPr>
              <a:t>A standalone service that </a:t>
            </a:r>
            <a:r>
              <a:rPr sz="1600" b="1" i="0" dirty="0">
                <a:solidFill>
                  <a:srgbClr val="1F2328"/>
                </a:solidFill>
                <a:latin typeface="Calibri"/>
              </a:rPr>
              <a:t>emulates optical modules</a:t>
            </a:r>
            <a:r>
              <a:rPr sz="1600" b="0" i="0" dirty="0">
                <a:solidFill>
                  <a:srgbClr val="36414A"/>
                </a:solidFill>
                <a:latin typeface="Calibri"/>
              </a:rPr>
              <a:t> over </a:t>
            </a:r>
            <a:r>
              <a:rPr sz="1600" b="0" i="0" dirty="0" err="1">
                <a:solidFill>
                  <a:srgbClr val="36414A"/>
                </a:solidFill>
                <a:latin typeface="Calibri"/>
              </a:rPr>
              <a:t>gRPC</a:t>
            </a:r>
            <a:endParaRPr sz="1600" b="0" i="0" dirty="0">
              <a:solidFill>
                <a:srgbClr val="36414A"/>
              </a:solidFill>
              <a:latin typeface="Calibri"/>
            </a:endParaRPr>
          </a:p>
          <a:p>
            <a:pPr marL="256032" indent="-256032">
              <a:spcAft>
                <a:spcPts val="1400"/>
              </a:spcAft>
              <a:buFont typeface="Calibri"/>
              <a:buChar char="–"/>
            </a:pPr>
            <a:r>
              <a:rPr sz="1600" b="1" i="0" dirty="0">
                <a:solidFill>
                  <a:srgbClr val="1F2328"/>
                </a:solidFill>
                <a:latin typeface="Calibri"/>
              </a:rPr>
              <a:t>Models EEPROM pages, DOM sensors, and CMIS state machines</a:t>
            </a:r>
            <a:r>
              <a:rPr sz="1600" b="0" i="0" dirty="0">
                <a:solidFill>
                  <a:srgbClr val="36414A"/>
                </a:solidFill>
                <a:latin typeface="Calibri"/>
              </a:rPr>
              <a:t>  (module + </a:t>
            </a:r>
            <a:r>
              <a:rPr sz="1600" b="0" i="0" dirty="0" err="1">
                <a:solidFill>
                  <a:srgbClr val="36414A"/>
                </a:solidFill>
                <a:latin typeface="Calibri"/>
              </a:rPr>
              <a:t>datapath</a:t>
            </a:r>
            <a:r>
              <a:rPr sz="1600" b="0" i="0" dirty="0">
                <a:solidFill>
                  <a:srgbClr val="36414A"/>
                </a:solidFill>
                <a:latin typeface="Calibri"/>
              </a:rPr>
              <a:t>)</a:t>
            </a:r>
          </a:p>
          <a:p>
            <a:pPr marL="256032" indent="-256032">
              <a:spcAft>
                <a:spcPts val="1400"/>
              </a:spcAft>
              <a:buFont typeface="Calibri"/>
              <a:buChar char="–"/>
            </a:pPr>
            <a:r>
              <a:rPr sz="1600" b="0" i="0" dirty="0">
                <a:solidFill>
                  <a:srgbClr val="36414A"/>
                </a:solidFill>
                <a:latin typeface="Calibri"/>
              </a:rPr>
              <a:t>Supports </a:t>
            </a:r>
            <a:r>
              <a:rPr sz="1600" b="1" i="0" dirty="0">
                <a:solidFill>
                  <a:srgbClr val="1F2328"/>
                </a:solidFill>
                <a:latin typeface="Calibri"/>
              </a:rPr>
              <a:t>plug / unplug</a:t>
            </a:r>
            <a:r>
              <a:rPr sz="1600" b="0" i="0" dirty="0">
                <a:solidFill>
                  <a:srgbClr val="36414A"/>
                </a:solidFill>
                <a:latin typeface="Calibri"/>
              </a:rPr>
              <a:t>, raw EEPROM read/write, and a </a:t>
            </a:r>
            <a:r>
              <a:rPr sz="1600" b="1" i="0" dirty="0">
                <a:solidFill>
                  <a:srgbClr val="1F2328"/>
                </a:solidFill>
                <a:latin typeface="Consolas"/>
              </a:rPr>
              <a:t>Monitor</a:t>
            </a:r>
            <a:r>
              <a:rPr sz="1600" b="0" i="0" dirty="0">
                <a:solidFill>
                  <a:srgbClr val="36414A"/>
                </a:solidFill>
                <a:latin typeface="Calibri"/>
              </a:rPr>
              <a:t> stream of every access</a:t>
            </a:r>
          </a:p>
          <a:p>
            <a:pPr marL="256032" indent="-256032">
              <a:spcAft>
                <a:spcPts val="1400"/>
              </a:spcAft>
              <a:buFont typeface="Calibri"/>
              <a:buChar char="–"/>
            </a:pPr>
            <a:r>
              <a:rPr sz="1600" b="0" i="0" dirty="0">
                <a:solidFill>
                  <a:srgbClr val="36414A"/>
                </a:solidFill>
                <a:latin typeface="Calibri"/>
              </a:rPr>
              <a:t>Lets us run the </a:t>
            </a:r>
            <a:r>
              <a:rPr sz="1600" b="1" i="0" dirty="0">
                <a:solidFill>
                  <a:srgbClr val="1F2328"/>
                </a:solidFill>
                <a:latin typeface="Calibri"/>
              </a:rPr>
              <a:t>real </a:t>
            </a:r>
            <a:r>
              <a:rPr sz="1600" b="1" i="0" dirty="0" err="1">
                <a:solidFill>
                  <a:srgbClr val="1F2328"/>
                </a:solidFill>
                <a:latin typeface="Calibri"/>
              </a:rPr>
              <a:t>xcvrd</a:t>
            </a:r>
            <a:r>
              <a:rPr sz="1600" b="0" i="0" dirty="0">
                <a:solidFill>
                  <a:srgbClr val="36414A"/>
                </a:solidFill>
                <a:latin typeface="Calibri"/>
              </a:rPr>
              <a:t> with no physical hardware</a:t>
            </a:r>
            <a:endParaRPr lang="en-US" sz="1600" b="0" i="0" dirty="0">
              <a:solidFill>
                <a:srgbClr val="36414A"/>
              </a:solidFill>
              <a:latin typeface="Calibri"/>
            </a:endParaRPr>
          </a:p>
          <a:p>
            <a:pPr marL="256032" indent="-256032">
              <a:spcAft>
                <a:spcPts val="1400"/>
              </a:spcAft>
              <a:buFont typeface="Calibri"/>
              <a:buChar char="–"/>
            </a:pPr>
            <a:r>
              <a:rPr sz="1600" b="1" i="0" dirty="0">
                <a:solidFill>
                  <a:srgbClr val="1F2328"/>
                </a:solidFill>
                <a:latin typeface="Calibri"/>
              </a:rPr>
              <a:t>Emulator:  </a:t>
            </a:r>
            <a:r>
              <a:rPr sz="1600" b="0" i="0" dirty="0">
                <a:solidFill>
                  <a:srgbClr val="6B7480"/>
                </a:solidFill>
                <a:latin typeface="Consolas"/>
              </a:rPr>
              <a:t>github.com/</a:t>
            </a:r>
            <a:r>
              <a:rPr sz="1600" b="0" i="0" dirty="0" err="1">
                <a:solidFill>
                  <a:srgbClr val="6B7480"/>
                </a:solidFill>
                <a:latin typeface="Consolas"/>
              </a:rPr>
              <a:t>ishidawataru</a:t>
            </a:r>
            <a:r>
              <a:rPr sz="1600" b="0" i="0" dirty="0">
                <a:solidFill>
                  <a:srgbClr val="6B7480"/>
                </a:solidFill>
                <a:latin typeface="Consolas"/>
              </a:rPr>
              <a:t>/</a:t>
            </a:r>
            <a:r>
              <a:rPr sz="1600" b="0" i="0" dirty="0" err="1">
                <a:solidFill>
                  <a:srgbClr val="6B7480"/>
                </a:solidFill>
                <a:latin typeface="Consolas"/>
              </a:rPr>
              <a:t>xcvr</a:t>
            </a:r>
            <a:r>
              <a:rPr sz="1600" b="0" i="0" dirty="0">
                <a:solidFill>
                  <a:srgbClr val="6B7480"/>
                </a:solidFill>
                <a:latin typeface="Consolas"/>
              </a:rPr>
              <a:t>-emu</a:t>
            </a:r>
            <a:r>
              <a:rPr sz="1600" b="0" i="1" dirty="0">
                <a:solidFill>
                  <a:srgbClr val="6B7480"/>
                </a:solidFill>
                <a:latin typeface="Calibri"/>
              </a:rPr>
              <a:t>   (CMIS Transceiver Emulator)</a:t>
            </a:r>
            <a:endParaRPr sz="1600" b="0" i="0" dirty="0">
              <a:solidFill>
                <a:srgbClr val="36414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2328"/>
                </a:solidFill>
                <a:latin typeface="Georgia"/>
              </a:rPr>
              <a:t>Making the emulator usable — virtual optoe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600200"/>
            <a:ext cx="10908792" cy="0"/>
          </a:xfrm>
          <a:prstGeom prst="line">
            <a:avLst/>
          </a:prstGeom>
          <a:ln w="12700">
            <a:solidFill>
              <a:srgbClr val="C9CD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874519"/>
            <a:ext cx="10881360" cy="15234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>
              <a:spcAft>
                <a:spcPts val="1400"/>
              </a:spcAft>
              <a:buFont typeface="Calibri"/>
              <a:buChar char="–"/>
            </a:pPr>
            <a:r>
              <a:rPr sz="1600" b="0" i="0" dirty="0">
                <a:solidFill>
                  <a:srgbClr val="36414A"/>
                </a:solidFill>
                <a:latin typeface="Calibri"/>
              </a:rPr>
              <a:t>Implemented a </a:t>
            </a:r>
            <a:r>
              <a:rPr sz="1600" b="1" i="0" dirty="0">
                <a:solidFill>
                  <a:srgbClr val="1F2328"/>
                </a:solidFill>
                <a:latin typeface="Calibri"/>
              </a:rPr>
              <a:t>virtual </a:t>
            </a:r>
            <a:r>
              <a:rPr sz="1600" b="1" i="0" dirty="0" err="1">
                <a:solidFill>
                  <a:srgbClr val="1F2328"/>
                </a:solidFill>
                <a:latin typeface="Calibri"/>
              </a:rPr>
              <a:t>optoe</a:t>
            </a:r>
            <a:r>
              <a:rPr sz="1600" b="0" i="0" dirty="0">
                <a:solidFill>
                  <a:srgbClr val="36414A"/>
                </a:solidFill>
                <a:latin typeface="Calibri"/>
              </a:rPr>
              <a:t> against the </a:t>
            </a:r>
            <a:r>
              <a:rPr sz="1600" b="0" i="0" dirty="0" err="1">
                <a:solidFill>
                  <a:srgbClr val="36414A"/>
                </a:solidFill>
                <a:latin typeface="Calibri"/>
              </a:rPr>
              <a:t>sonic_platform</a:t>
            </a:r>
            <a:r>
              <a:rPr sz="1600" b="0" i="0" dirty="0">
                <a:solidFill>
                  <a:srgbClr val="36414A"/>
                </a:solidFill>
                <a:latin typeface="Calibri"/>
              </a:rPr>
              <a:t> API</a:t>
            </a:r>
          </a:p>
          <a:p>
            <a:pPr marL="256032" indent="-256032">
              <a:spcAft>
                <a:spcPts val="1400"/>
              </a:spcAft>
              <a:buFont typeface="Calibri"/>
              <a:buChar char="–"/>
            </a:pPr>
            <a:r>
              <a:rPr sz="1600" b="1" i="0" dirty="0">
                <a:solidFill>
                  <a:srgbClr val="1F2328"/>
                </a:solidFill>
                <a:latin typeface="Consolas"/>
              </a:rPr>
              <a:t>SFP</a:t>
            </a:r>
            <a:r>
              <a:rPr sz="1600" b="0" i="0" dirty="0">
                <a:solidFill>
                  <a:srgbClr val="36414A"/>
                </a:solidFill>
                <a:latin typeface="Calibri"/>
              </a:rPr>
              <a:t> · </a:t>
            </a:r>
            <a:r>
              <a:rPr sz="1600" b="1" i="0" dirty="0">
                <a:solidFill>
                  <a:srgbClr val="1F2328"/>
                </a:solidFill>
                <a:latin typeface="Consolas"/>
              </a:rPr>
              <a:t>Chassis</a:t>
            </a:r>
            <a:r>
              <a:rPr sz="1600" b="0" i="0" dirty="0">
                <a:solidFill>
                  <a:srgbClr val="36414A"/>
                </a:solidFill>
                <a:latin typeface="Calibri"/>
              </a:rPr>
              <a:t> · </a:t>
            </a:r>
            <a:r>
              <a:rPr sz="1600" b="1" i="0" dirty="0">
                <a:solidFill>
                  <a:srgbClr val="1F2328"/>
                </a:solidFill>
                <a:latin typeface="Consolas"/>
              </a:rPr>
              <a:t>platform</a:t>
            </a:r>
            <a:r>
              <a:rPr sz="1600" b="0" i="0" dirty="0">
                <a:solidFill>
                  <a:srgbClr val="36414A"/>
                </a:solidFill>
                <a:latin typeface="Calibri"/>
              </a:rPr>
              <a:t>  —  bridges </a:t>
            </a:r>
            <a:r>
              <a:rPr sz="1600" b="0" i="0" dirty="0" err="1">
                <a:solidFill>
                  <a:srgbClr val="36414A"/>
                </a:solidFill>
                <a:latin typeface="Calibri"/>
              </a:rPr>
              <a:t>xcvrd's</a:t>
            </a:r>
            <a:r>
              <a:rPr sz="1600" b="0" i="0" dirty="0">
                <a:solidFill>
                  <a:srgbClr val="36414A"/>
                </a:solidFill>
                <a:latin typeface="Calibri"/>
              </a:rPr>
              <a:t> HAL calls to the emulator over </a:t>
            </a:r>
            <a:r>
              <a:rPr sz="1600" b="0" i="0" dirty="0" err="1">
                <a:solidFill>
                  <a:srgbClr val="36414A"/>
                </a:solidFill>
                <a:latin typeface="Calibri"/>
              </a:rPr>
              <a:t>gRPC</a:t>
            </a:r>
            <a:endParaRPr sz="1600" b="0" i="0" dirty="0">
              <a:solidFill>
                <a:srgbClr val="36414A"/>
              </a:solidFill>
              <a:latin typeface="Calibri"/>
            </a:endParaRPr>
          </a:p>
          <a:p>
            <a:pPr marL="256032" indent="-256032">
              <a:spcAft>
                <a:spcPts val="1400"/>
              </a:spcAft>
              <a:buFont typeface="Calibri"/>
              <a:buChar char="–"/>
            </a:pPr>
            <a:r>
              <a:rPr sz="1600" b="0" i="0" dirty="0">
                <a:solidFill>
                  <a:srgbClr val="36414A"/>
                </a:solidFill>
                <a:latin typeface="Calibri"/>
              </a:rPr>
              <a:t>proto stubs + a </a:t>
            </a:r>
            <a:r>
              <a:rPr lang="en-US" sz="1600" b="1" i="0" dirty="0">
                <a:solidFill>
                  <a:srgbClr val="36414A"/>
                </a:solidFill>
                <a:latin typeface="Calibri"/>
              </a:rPr>
              <a:t>virtual </a:t>
            </a:r>
            <a:r>
              <a:rPr sz="1600" b="1" i="0" dirty="0">
                <a:solidFill>
                  <a:srgbClr val="1F2328"/>
                </a:solidFill>
                <a:latin typeface="Calibri"/>
              </a:rPr>
              <a:t>platform</a:t>
            </a:r>
            <a:r>
              <a:rPr lang="en-US" sz="1600" b="1" i="0" dirty="0">
                <a:solidFill>
                  <a:srgbClr val="1F2328"/>
                </a:solidFill>
                <a:latin typeface="Calibri"/>
              </a:rPr>
              <a:t> </a:t>
            </a:r>
            <a:r>
              <a:rPr sz="1600" b="0" i="0" dirty="0">
                <a:solidFill>
                  <a:srgbClr val="36414A"/>
                </a:solidFill>
                <a:latin typeface="Calibri"/>
              </a:rPr>
              <a:t>injected into </a:t>
            </a:r>
            <a:r>
              <a:rPr sz="1600" b="0" i="0" dirty="0" err="1">
                <a:solidFill>
                  <a:srgbClr val="36414A"/>
                </a:solidFill>
                <a:latin typeface="Calibri"/>
              </a:rPr>
              <a:t>pmon</a:t>
            </a:r>
            <a:endParaRPr sz="1600" b="0" i="0" dirty="0">
              <a:solidFill>
                <a:srgbClr val="36414A"/>
              </a:solidFill>
              <a:latin typeface="Calibri"/>
            </a:endParaRPr>
          </a:p>
          <a:p>
            <a:pPr marL="256032" indent="-256032">
              <a:spcAft>
                <a:spcPts val="1400"/>
              </a:spcAft>
              <a:buFont typeface="Calibri"/>
              <a:buChar char="–"/>
            </a:pPr>
            <a:r>
              <a:rPr sz="1600" b="1" i="0" dirty="0">
                <a:solidFill>
                  <a:srgbClr val="3B7A57"/>
                </a:solidFill>
                <a:latin typeface="Calibri"/>
              </a:rPr>
              <a:t>Result:  </a:t>
            </a:r>
            <a:r>
              <a:rPr sz="1600" b="0" i="0" dirty="0" err="1">
                <a:solidFill>
                  <a:srgbClr val="36414A"/>
                </a:solidFill>
                <a:latin typeface="Calibri"/>
              </a:rPr>
              <a:t>xcvrd</a:t>
            </a:r>
            <a:r>
              <a:rPr sz="1600" b="0" i="0" dirty="0">
                <a:solidFill>
                  <a:srgbClr val="36414A"/>
                </a:solidFill>
                <a:latin typeface="Calibri"/>
              </a:rPr>
              <a:t> talks to the emulator exactly as it would to real optics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777240"/>
            <a:ext cx="108813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>
                <a:solidFill>
                  <a:srgbClr val="1F2328"/>
                </a:solidFill>
                <a:latin typeface="Georgia"/>
              </a:rPr>
              <a:t>Emulator in the </a:t>
            </a:r>
            <a:r>
              <a:rPr sz="2800" b="1" i="0" dirty="0" err="1">
                <a:solidFill>
                  <a:srgbClr val="1F2328"/>
                </a:solidFill>
                <a:latin typeface="Georgia"/>
              </a:rPr>
              <a:t>SONiC</a:t>
            </a:r>
            <a:r>
              <a:rPr sz="2800" b="1" i="0" dirty="0">
                <a:solidFill>
                  <a:srgbClr val="1F2328"/>
                </a:solidFill>
                <a:latin typeface="Georgia"/>
              </a:rPr>
              <a:t> virtual testbed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463040"/>
            <a:ext cx="10908792" cy="0"/>
          </a:xfrm>
          <a:prstGeom prst="line">
            <a:avLst/>
          </a:prstGeom>
          <a:ln w="12700">
            <a:solidFill>
              <a:srgbClr val="C9CD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1645920"/>
            <a:ext cx="10908792" cy="3611880"/>
          </a:xfrm>
          <a:prstGeom prst="rect">
            <a:avLst/>
          </a:prstGeom>
          <a:solidFill>
            <a:srgbClr val="FFFFFF"/>
          </a:solidFill>
          <a:ln w="19050">
            <a:solidFill>
              <a:srgbClr val="3641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328"/>
                </a:solidFill>
                <a:latin typeface="Calibri"/>
              </a:rPr>
              <a:t>DUT (vlab-01)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148840"/>
            <a:ext cx="4892040" cy="1874519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" y="222199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6414A"/>
                </a:solidFill>
                <a:latin typeface="Calibri"/>
              </a:rPr>
              <a:t>pmon container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7008" y="2606040"/>
            <a:ext cx="15544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6B7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200" b="1" i="0">
                <a:solidFill>
                  <a:srgbClr val="1F2328"/>
                </a:solidFill>
                <a:latin typeface="Calibri"/>
              </a:rPr>
              <a:t>xcvrd</a:t>
            </a:r>
          </a:p>
        </p:txBody>
      </p:sp>
      <p:sp>
        <p:nvSpPr>
          <p:cNvPr id="9" name="Rectangle 8"/>
          <p:cNvSpPr/>
          <p:nvPr/>
        </p:nvSpPr>
        <p:spPr>
          <a:xfrm>
            <a:off x="3648774" y="2513293"/>
            <a:ext cx="2171699" cy="560396"/>
          </a:xfrm>
          <a:prstGeom prst="rect">
            <a:avLst/>
          </a:prstGeom>
          <a:solidFill>
            <a:srgbClr val="E7E9EC"/>
          </a:solidFill>
          <a:ln w="12700">
            <a:solidFill>
              <a:srgbClr val="3641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lang="en-US" sz="1150" b="1" i="0" dirty="0">
                <a:solidFill>
                  <a:srgbClr val="1F2328"/>
                </a:solidFill>
                <a:latin typeface="Calibri"/>
              </a:rPr>
              <a:t>Virtual </a:t>
            </a:r>
            <a:r>
              <a:rPr sz="1150" b="1" i="0" dirty="0" err="1">
                <a:solidFill>
                  <a:srgbClr val="1F2328"/>
                </a:solidFill>
                <a:latin typeface="Calibri"/>
              </a:rPr>
              <a:t>sonic_platform</a:t>
            </a:r>
            <a:r>
              <a:rPr sz="1150" b="1" i="0" dirty="0">
                <a:solidFill>
                  <a:srgbClr val="1F2328"/>
                </a:solidFill>
                <a:latin typeface="Calibri"/>
              </a:rPr>
              <a:t> </a:t>
            </a:r>
            <a:r>
              <a:rPr sz="1000" b="1" i="0" dirty="0">
                <a:solidFill>
                  <a:srgbClr val="6B7480"/>
                </a:solidFill>
                <a:latin typeface="Calibri"/>
              </a:rPr>
              <a:t>[INJECT]</a:t>
            </a:r>
          </a:p>
          <a:p>
            <a:pPr algn="ctr"/>
            <a:r>
              <a:rPr sz="1050" b="0" i="0" dirty="0">
                <a:solidFill>
                  <a:srgbClr val="36414A"/>
                </a:solidFill>
                <a:latin typeface="Calibri"/>
              </a:rPr>
              <a:t>+ proto stubs · + </a:t>
            </a:r>
            <a:r>
              <a:rPr sz="1050" b="0" i="0" dirty="0" err="1">
                <a:solidFill>
                  <a:srgbClr val="36414A"/>
                </a:solidFill>
                <a:latin typeface="Calibri"/>
              </a:rPr>
              <a:t>host_tx_ready</a:t>
            </a:r>
            <a:endParaRPr sz="1050" b="0" i="0" dirty="0">
              <a:solidFill>
                <a:srgbClr val="36414A"/>
              </a:solidFill>
              <a:latin typeface="Calibri"/>
            </a:endParaRPr>
          </a:p>
        </p:txBody>
      </p:sp>
      <p:cxnSp>
        <p:nvCxnSpPr>
          <p:cNvPr id="10" name="Connector 9"/>
          <p:cNvCxnSpPr>
            <a:cxnSpLocks/>
          </p:cNvCxnSpPr>
          <p:nvPr/>
        </p:nvCxnSpPr>
        <p:spPr>
          <a:xfrm>
            <a:off x="2761488" y="2820031"/>
            <a:ext cx="887286" cy="0"/>
          </a:xfrm>
          <a:prstGeom prst="line">
            <a:avLst/>
          </a:prstGeom>
          <a:ln w="15875">
            <a:solidFill>
              <a:srgbClr val="3641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492240" y="2148840"/>
            <a:ext cx="4343400" cy="1874519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56832" y="2221992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6414A"/>
                </a:solidFill>
                <a:latin typeface="Calibri"/>
              </a:rPr>
              <a:t>xcvr-emu container  (standalone)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2606040"/>
            <a:ext cx="3794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6B7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200" b="1" i="0">
                <a:solidFill>
                  <a:srgbClr val="1F2328"/>
                </a:solidFill>
                <a:latin typeface="Calibri"/>
              </a:rPr>
              <a:t>xcvr-emud server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3310128"/>
            <a:ext cx="2743200" cy="621792"/>
          </a:xfrm>
          <a:prstGeom prst="rect">
            <a:avLst/>
          </a:prstGeom>
          <a:solidFill>
            <a:srgbClr val="E7E9EC"/>
          </a:solidFill>
          <a:ln w="12700">
            <a:solidFill>
              <a:srgbClr val="3641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100" b="1" i="0">
                <a:solidFill>
                  <a:srgbClr val="1F2328"/>
                </a:solidFill>
                <a:latin typeface="Calibri"/>
              </a:rPr>
              <a:t>emu_config.yaml  </a:t>
            </a:r>
            <a:r>
              <a:rPr sz="1000" b="1" i="0">
                <a:solidFill>
                  <a:srgbClr val="6B7480"/>
                </a:solidFill>
                <a:latin typeface="Calibri"/>
              </a:rPr>
              <a:t>[INJECT]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8686800" y="3063240"/>
            <a:ext cx="0" cy="246888"/>
          </a:xfrm>
          <a:prstGeom prst="line">
            <a:avLst/>
          </a:prstGeom>
          <a:ln w="15875">
            <a:solidFill>
              <a:srgbClr val="3641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806440" y="2834640"/>
            <a:ext cx="960120" cy="0"/>
          </a:xfrm>
          <a:prstGeom prst="line">
            <a:avLst/>
          </a:prstGeom>
          <a:ln w="15875">
            <a:solidFill>
              <a:srgbClr val="3641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532120" y="237744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6B7480"/>
                </a:solidFill>
                <a:latin typeface="Calibri"/>
              </a:rPr>
              <a:t>gRPC</a:t>
            </a:r>
          </a:p>
          <a:p>
            <a:pPr algn="ctr"/>
            <a:r>
              <a:rPr sz="1000" b="0" i="0">
                <a:solidFill>
                  <a:srgbClr val="6B7480"/>
                </a:solidFill>
                <a:latin typeface="Calibri"/>
              </a:rPr>
              <a:t>:50051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224528"/>
            <a:ext cx="42062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200" b="1" i="0">
                <a:solidFill>
                  <a:srgbClr val="1F2328"/>
                </a:solidFill>
                <a:latin typeface="Calibri"/>
              </a:rPr>
              <a:t>redis:  STATE_DB / APPL_DB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4224528"/>
            <a:ext cx="4343400" cy="658368"/>
          </a:xfrm>
          <a:prstGeom prst="rect">
            <a:avLst/>
          </a:prstGeom>
          <a:solidFill>
            <a:srgbClr val="E7E9EC"/>
          </a:solidFill>
          <a:ln w="12700">
            <a:solidFill>
              <a:srgbClr val="3641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150" b="1" i="0">
                <a:solidFill>
                  <a:srgbClr val="1F2328"/>
                </a:solidFill>
                <a:latin typeface="Calibri"/>
              </a:rPr>
              <a:t>platform.json  </a:t>
            </a:r>
            <a:r>
              <a:rPr sz="1000" b="1" i="0">
                <a:solidFill>
                  <a:srgbClr val="6B7480"/>
                </a:solidFill>
                <a:latin typeface="Calibri"/>
              </a:rPr>
              <a:t>[INJECT]</a:t>
            </a:r>
          </a:p>
          <a:p>
            <a:pPr algn="ctr"/>
            <a:r>
              <a:rPr sz="1050" b="0" i="0">
                <a:solidFill>
                  <a:srgbClr val="36414A"/>
                </a:solidFill>
                <a:latin typeface="Calibri"/>
              </a:rPr>
              <a:t>(32 SFPs + asic_type)</a:t>
            </a:r>
          </a:p>
        </p:txBody>
      </p:sp>
      <p:cxnSp>
        <p:nvCxnSpPr>
          <p:cNvPr id="20" name="Connector 19"/>
          <p:cNvCxnSpPr>
            <a:cxnSpLocks/>
          </p:cNvCxnSpPr>
          <p:nvPr/>
        </p:nvCxnSpPr>
        <p:spPr>
          <a:xfrm>
            <a:off x="2103120" y="3102241"/>
            <a:ext cx="0" cy="1122287"/>
          </a:xfrm>
          <a:prstGeom prst="line">
            <a:avLst/>
          </a:prstGeom>
          <a:ln w="15875">
            <a:solidFill>
              <a:srgbClr val="3641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286000" y="3950208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B7480"/>
                </a:solidFill>
                <a:latin typeface="Calibri"/>
              </a:rPr>
              <a:t>TRANSCEIVER_INFO / DOM</a:t>
            </a:r>
          </a:p>
          <a:p>
            <a:pPr algn="l"/>
            <a:r>
              <a:rPr sz="900" b="0" i="0">
                <a:solidFill>
                  <a:srgbClr val="6B7480"/>
                </a:solidFill>
                <a:latin typeface="Calibri"/>
              </a:rPr>
              <a:t>+ host_tx_ready</a:t>
            </a:r>
          </a:p>
        </p:txBody>
      </p:sp>
      <p:cxnSp>
        <p:nvCxnSpPr>
          <p:cNvPr id="22" name="Connector 21"/>
          <p:cNvCxnSpPr>
            <a:cxnSpLocks/>
          </p:cNvCxnSpPr>
          <p:nvPr/>
        </p:nvCxnSpPr>
        <p:spPr>
          <a:xfrm flipH="1" flipV="1">
            <a:off x="5342541" y="3086099"/>
            <a:ext cx="1149699" cy="1394461"/>
          </a:xfrm>
          <a:prstGeom prst="line">
            <a:avLst/>
          </a:prstGeom>
          <a:ln w="12700"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779008" y="38404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6B7480"/>
                </a:solidFill>
                <a:latin typeface="Calibri"/>
              </a:rPr>
              <a:t>reads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5532120"/>
            <a:ext cx="3291840" cy="658368"/>
          </a:xfrm>
          <a:prstGeom prst="rect">
            <a:avLst/>
          </a:prstGeom>
          <a:solidFill>
            <a:srgbClr val="36414A"/>
          </a:solidFill>
          <a:ln w="9525">
            <a:solidFill>
              <a:srgbClr val="3641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sonic-mgmt container  (pytest)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6080760" y="5257800"/>
            <a:ext cx="0" cy="274320"/>
          </a:xfrm>
          <a:prstGeom prst="line">
            <a:avLst/>
          </a:prstGeom>
          <a:ln w="15875">
            <a:solidFill>
              <a:srgbClr val="3641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217920" y="5230368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1">
                <a:solidFill>
                  <a:srgbClr val="6B7480"/>
                </a:solidFill>
                <a:latin typeface="Calibri"/>
              </a:rPr>
              <a:t>CLI + duthost.facts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63550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6B7480"/>
                </a:solidFill>
                <a:latin typeface="Calibri"/>
              </a:rPr>
              <a:t>[INJECT]</a:t>
            </a:r>
            <a:r>
              <a:rPr sz="950" b="0" i="1">
                <a:solidFill>
                  <a:srgbClr val="6B7480"/>
                </a:solidFill>
                <a:latin typeface="Calibri"/>
              </a:rPr>
              <a:t>  = added into the testbed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2800" b="1">
                <a:solidFill>
                  <a:srgbClr val="1F2328"/>
                </a:solidFill>
                <a:latin typeface="Georgia"/>
              </a:rPr>
              <a:t>Emulator — fixes &amp; features contributed</a:t>
            </a:r>
            <a:endParaRPr sz="2800" b="1" i="0" dirty="0">
              <a:solidFill>
                <a:srgbClr val="1F2328"/>
              </a:solidFill>
              <a:latin typeface="Georgia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40080" y="1600200"/>
            <a:ext cx="10908792" cy="0"/>
          </a:xfrm>
          <a:prstGeom prst="line">
            <a:avLst/>
          </a:prstGeom>
          <a:ln w="12700">
            <a:solidFill>
              <a:srgbClr val="C9CD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874519"/>
            <a:ext cx="521208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350" b="1">
                <a:solidFill>
                  <a:srgbClr val="1F2328"/>
                </a:solidFill>
                <a:latin typeface="Calibri"/>
              </a:rPr>
              <a:t>FIXES  (bugs found)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2240280"/>
            <a:ext cx="5029200" cy="0"/>
          </a:xfrm>
          <a:prstGeom prst="line">
            <a:avLst/>
          </a:prstGeom>
          <a:ln w="12700">
            <a:solidFill>
              <a:srgbClr val="C9CD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2395728"/>
            <a:ext cx="50292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7744" indent="-237744">
              <a:spcAft>
                <a:spcPts val="700"/>
              </a:spcAft>
              <a:buFont typeface="Calibri"/>
              <a:buChar char="–"/>
            </a:pPr>
            <a:r>
              <a:rPr sz="1200" b="1" i="0">
                <a:solidFill>
                  <a:srgbClr val="1F2328"/>
                </a:solidFill>
                <a:latin typeface="Calibri"/>
              </a:rPr>
              <a:t>Per-module register isolation</a:t>
            </a:r>
            <a:r>
              <a:rPr sz="1200" b="0" i="0">
                <a:solidFill>
                  <a:srgbClr val="36414A"/>
                </a:solidFill>
                <a:latin typeface="Calibri"/>
              </a:rPr>
              <a:t>  —  shared EEPROM (mutable default arg) + shared MemMap aliased all 32 modules; only shows in full concurrent bring-up</a:t>
            </a:r>
          </a:p>
          <a:p>
            <a:pPr marL="237744" indent="-237744">
              <a:spcAft>
                <a:spcPts val="700"/>
              </a:spcAft>
              <a:buFont typeface="Calibri"/>
              <a:buChar char="–"/>
            </a:pPr>
            <a:r>
              <a:rPr sz="1200" b="1" i="0">
                <a:solidFill>
                  <a:srgbClr val="1F2328"/>
                </a:solidFill>
                <a:latin typeface="Calibri"/>
              </a:rPr>
              <a:t>SoftwareReset self-clearing (00h:26.3)</a:t>
            </a:r>
            <a:r>
              <a:rPr sz="1200" b="0" i="0">
                <a:solidFill>
                  <a:srgbClr val="36414A"/>
                </a:solidFill>
                <a:latin typeface="Calibri"/>
              </a:rPr>
              <a:t>  —  stale bit was bouncing the datapath</a:t>
            </a:r>
          </a:p>
          <a:p>
            <a:pPr marL="237744" indent="-237744">
              <a:spcAft>
                <a:spcPts val="700"/>
              </a:spcAft>
              <a:buFont typeface="Calibri"/>
              <a:buChar char="–"/>
            </a:pPr>
            <a:r>
              <a:rPr sz="1200" b="1" i="0">
                <a:solidFill>
                  <a:srgbClr val="1F2328"/>
                </a:solidFill>
                <a:latin typeface="Calibri"/>
              </a:rPr>
              <a:t>Read honors presence</a:t>
            </a:r>
            <a:r>
              <a:rPr sz="1200" b="0" i="0">
                <a:solidFill>
                  <a:srgbClr val="36414A"/>
                </a:solidFill>
                <a:latin typeface="Calibri"/>
              </a:rPr>
              <a:t>  —  absent module returns UNAVAILABLE (real I2C), unless forced</a:t>
            </a:r>
          </a:p>
          <a:p>
            <a:pPr marL="237744" indent="-237744">
              <a:spcAft>
                <a:spcPts val="700"/>
              </a:spcAft>
              <a:buFont typeface="Calibri"/>
              <a:buChar char="–"/>
            </a:pPr>
            <a:r>
              <a:rPr sz="1200" b="1" i="0">
                <a:solidFill>
                  <a:srgbClr val="1F2328"/>
                </a:solidFill>
                <a:latin typeface="Calibri"/>
              </a:rPr>
              <a:t>ConfigSuccess only on triggered lanes</a:t>
            </a:r>
            <a:r>
              <a:rPr sz="1200" b="0" i="0">
                <a:solidFill>
                  <a:srgbClr val="36414A"/>
                </a:solidFill>
                <a:latin typeface="Calibri"/>
              </a:rPr>
              <a:t>  —  unused host lanes of a 4-lane app no longer marked success</a:t>
            </a:r>
          </a:p>
          <a:p>
            <a:pPr marL="237744" indent="-237744">
              <a:spcAft>
                <a:spcPts val="700"/>
              </a:spcAft>
              <a:buFont typeface="Calibri"/>
              <a:buChar char="–"/>
            </a:pPr>
            <a:r>
              <a:rPr sz="1200" b="1" i="0">
                <a:solidFill>
                  <a:srgbClr val="1F2328"/>
                </a:solidFill>
                <a:latin typeface="Calibri"/>
              </a:rPr>
              <a:t>Pinned pip &lt; 25.3</a:t>
            </a:r>
            <a:r>
              <a:rPr sz="1200" b="0" i="0">
                <a:solidFill>
                  <a:srgbClr val="36414A"/>
                </a:solidFill>
                <a:latin typeface="Calibri"/>
              </a:rPr>
              <a:t>  —  fixes fresh Docker build (pip-tools)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89320" y="1874519"/>
            <a:ext cx="0" cy="3840481"/>
          </a:xfrm>
          <a:prstGeom prst="line">
            <a:avLst/>
          </a:prstGeom>
          <a:ln w="9525">
            <a:solidFill>
              <a:srgbClr val="C9CD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63640" y="1874519"/>
            <a:ext cx="521208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350" b="1">
                <a:solidFill>
                  <a:srgbClr val="1F2328"/>
                </a:solidFill>
                <a:latin typeface="Calibri"/>
              </a:rPr>
              <a:t>FEATURES  (added)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263640" y="2240280"/>
            <a:ext cx="5074919" cy="0"/>
          </a:xfrm>
          <a:prstGeom prst="line">
            <a:avLst/>
          </a:prstGeom>
          <a:ln w="12700">
            <a:solidFill>
              <a:srgbClr val="C9CD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81928" y="2395728"/>
            <a:ext cx="507492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7744" indent="-237744">
              <a:spcAft>
                <a:spcPts val="700"/>
              </a:spcAft>
              <a:buFont typeface="Calibri"/>
              <a:buChar char="–"/>
            </a:pPr>
            <a:r>
              <a:rPr sz="1200" b="1" i="0">
                <a:solidFill>
                  <a:srgbClr val="1F2328"/>
                </a:solidFill>
                <a:latin typeface="Calibri"/>
              </a:rPr>
              <a:t>Fault injection (control page 0xFE)</a:t>
            </a:r>
            <a:r>
              <a:rPr sz="1200" b="0" i="0">
                <a:solidFill>
                  <a:srgbClr val="36414A"/>
                </a:solidFill>
                <a:latin typeface="Calibri"/>
              </a:rPr>
              <a:t>  —  FAULT_READ + FAULT_DP_STALL let black-box tests hit error / retry paths</a:t>
            </a:r>
          </a:p>
          <a:p>
            <a:pPr marL="237744" indent="-237744">
              <a:spcAft>
                <a:spcPts val="700"/>
              </a:spcAft>
              <a:buFont typeface="Calibri"/>
              <a:buChar char="–"/>
            </a:pPr>
            <a:r>
              <a:rPr sz="1200" b="1" i="0">
                <a:solidFill>
                  <a:srgbClr val="1F2328"/>
                </a:solidFill>
                <a:latin typeface="Calibri"/>
              </a:rPr>
              <a:t>GetInfo exposes the module SM (msm)</a:t>
            </a:r>
            <a:r>
              <a:rPr sz="1200" b="0" i="0">
                <a:solidFill>
                  <a:srgbClr val="36414A"/>
                </a:solidFill>
                <a:latin typeface="Calibri"/>
              </a:rPr>
              <a:t>  —  cross-check xcvrd drove the module to the expected CMIS state, not just the datapath</a:t>
            </a:r>
          </a:p>
          <a:p>
            <a:pPr marL="237744" indent="-237744">
              <a:spcAft>
                <a:spcPts val="700"/>
              </a:spcAft>
              <a:buFont typeface="Calibri"/>
              <a:buChar char="–"/>
            </a:pPr>
            <a:r>
              <a:rPr sz="1200" b="1" i="0">
                <a:solidFill>
                  <a:srgbClr val="1F2328"/>
                </a:solidFill>
                <a:latin typeface="Calibri"/>
              </a:rPr>
              <a:t>Multi-application datapath</a:t>
            </a:r>
            <a:r>
              <a:rPr sz="1200" b="0" i="0">
                <a:solidFill>
                  <a:srgbClr val="36414A"/>
                </a:solidFill>
                <a:latin typeface="Calibri"/>
              </a:rPr>
              <a:t>  —  per-lane ApplyDPInit gating</a:t>
            </a:r>
          </a:p>
          <a:p>
            <a:pPr marL="237744" indent="-237744">
              <a:spcAft>
                <a:spcPts val="700"/>
              </a:spcAft>
              <a:buFont typeface="Calibri"/>
              <a:buChar char="–"/>
            </a:pPr>
            <a:r>
              <a:rPr sz="1200" b="1" i="0">
                <a:solidFill>
                  <a:srgbClr val="1F2328"/>
                </a:solidFill>
                <a:latin typeface="Calibri"/>
              </a:rPr>
              <a:t>SFF-8636 (QSFP28) emulation</a:t>
            </a:r>
            <a:r>
              <a:rPr sz="1200" b="0" i="0">
                <a:solidFill>
                  <a:srgbClr val="36414A"/>
                </a:solidFill>
                <a:latin typeface="Calibri"/>
              </a:rPr>
              <a:t>  —  non-CMIS modules routed through xcvrd's SffManagerTask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100" b="1" i="0">
                <a:solidFill>
                  <a:srgbClr val="6B7480"/>
                </a:solidFill>
                <a:latin typeface="Calibri"/>
              </a:rPr>
              <a:t>fork:  </a:t>
            </a:r>
            <a:r>
              <a:rPr sz="1100" b="0" i="0">
                <a:solidFill>
                  <a:srgbClr val="6B7480"/>
                </a:solidFill>
                <a:latin typeface="Consolas"/>
              </a:rPr>
              <a:t>github.com/gsoosk/xcvr-emu</a:t>
            </a:r>
            <a:r>
              <a:rPr sz="1100" b="0" i="1">
                <a:solidFill>
                  <a:srgbClr val="6B7480"/>
                </a:solidFill>
                <a:latin typeface="Calibri"/>
              </a:rPr>
              <a:t>   —  changes split across feature/* and fix/* branches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777240"/>
            <a:ext cx="108813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800" b="1" i="0" dirty="0">
                <a:solidFill>
                  <a:srgbClr val="1F2328"/>
                </a:solidFill>
                <a:latin typeface="Georgia"/>
              </a:rPr>
              <a:t>End to End tests</a:t>
            </a:r>
            <a:endParaRPr sz="2800" b="1" i="0" dirty="0">
              <a:solidFill>
                <a:srgbClr val="1F2328"/>
              </a:solidFill>
              <a:latin typeface="Georgia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40080" y="1600200"/>
            <a:ext cx="10908792" cy="0"/>
          </a:xfrm>
          <a:prstGeom prst="line">
            <a:avLst/>
          </a:prstGeom>
          <a:ln w="12700">
            <a:solidFill>
              <a:srgbClr val="C9CD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40080" y="1783080"/>
            <a:ext cx="10908792" cy="1234440"/>
          </a:xfrm>
          <a:prstGeom prst="rect">
            <a:avLst/>
          </a:prstGeom>
          <a:solidFill>
            <a:srgbClr val="F2F3F5"/>
          </a:solidFill>
          <a:ln w="15875">
            <a:solidFill>
              <a:srgbClr val="3641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84708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328"/>
                </a:solidFill>
                <a:latin typeface="Calibri"/>
              </a:rPr>
              <a:t>DUT host (vlab-01) — pytest runs 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1284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6414A"/>
                </a:solidFill>
                <a:latin typeface="Calibri"/>
              </a:rPr>
              <a:t>pytest + conftest.py</a:t>
            </a:r>
            <a:r>
              <a:rPr sz="1200" b="0" i="0">
                <a:solidFill>
                  <a:srgbClr val="36414A"/>
                </a:solidFill>
                <a:latin typeface="Calibri"/>
              </a:rPr>
              <a:t>  —  clean baseline, per-test health guards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42032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F2328"/>
                </a:solidFill>
                <a:latin typeface="Consolas"/>
              </a:rPr>
              <a:t>lib/  </a:t>
            </a:r>
            <a:r>
              <a:rPr sz="1150" b="0" i="0">
                <a:solidFill>
                  <a:srgbClr val="36414A"/>
                </a:solidFill>
                <a:latin typeface="Consolas"/>
              </a:rPr>
              <a:t>EmulatorClient · MonitorRecorder · StateDB · XcvrdControl · ErrorInjector · sfputil · golden · waits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" y="3072384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6B7480"/>
                </a:solidFill>
                <a:latin typeface="Calibri"/>
              </a:rPr>
              <a:t>gRPC :50051</a:t>
            </a:r>
          </a:p>
          <a:p>
            <a:pPr algn="ctr"/>
            <a:r>
              <a:rPr sz="900" b="0" i="0">
                <a:solidFill>
                  <a:srgbClr val="6B7480"/>
                </a:solidFill>
                <a:latin typeface="Calibri"/>
              </a:rPr>
              <a:t>plug/unplug · EEPROM r/w · Monitor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54580" y="3474720"/>
            <a:ext cx="0" cy="182880"/>
          </a:xfrm>
          <a:prstGeom prst="line">
            <a:avLst/>
          </a:prstGeom>
          <a:ln w="15875">
            <a:solidFill>
              <a:srgbClr val="3641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448556" y="3072384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6B7480"/>
                </a:solidFill>
                <a:latin typeface="Calibri"/>
              </a:rPr>
              <a:t>sonic-db-cli</a:t>
            </a:r>
          </a:p>
          <a:p>
            <a:pPr algn="ctr"/>
            <a:r>
              <a:rPr sz="900" b="0" i="0">
                <a:solidFill>
                  <a:srgbClr val="6B7480"/>
                </a:solidFill>
                <a:latin typeface="Calibri"/>
              </a:rPr>
              <a:t>HSET inject / HGETALL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4476" y="3474720"/>
            <a:ext cx="0" cy="182880"/>
          </a:xfrm>
          <a:prstGeom prst="line">
            <a:avLst/>
          </a:prstGeom>
          <a:ln w="15875">
            <a:solidFill>
              <a:srgbClr val="3641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188452" y="3072384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6B7480"/>
                </a:solidFill>
                <a:latin typeface="Calibri"/>
              </a:rPr>
              <a:t>supervisorctl</a:t>
            </a:r>
          </a:p>
          <a:p>
            <a:pPr algn="ctr"/>
            <a:r>
              <a:rPr sz="900" b="0" i="0">
                <a:solidFill>
                  <a:srgbClr val="6B7480"/>
                </a:solidFill>
                <a:latin typeface="Calibri"/>
              </a:rPr>
              <a:t>restart / flush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834372" y="3474720"/>
            <a:ext cx="0" cy="182880"/>
          </a:xfrm>
          <a:prstGeom prst="line">
            <a:avLst/>
          </a:prstGeom>
          <a:ln w="15875">
            <a:solidFill>
              <a:srgbClr val="3641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02920" y="3566160"/>
            <a:ext cx="11091672" cy="1572768"/>
          </a:xfrm>
          <a:prstGeom prst="roundRect">
            <a:avLst/>
          </a:prstGeom>
          <a:noFill/>
          <a:ln w="15875">
            <a:solidFill>
              <a:srgbClr val="3641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3657600"/>
            <a:ext cx="3429000" cy="137160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373075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6414A"/>
                </a:solidFill>
                <a:latin typeface="Calibri"/>
              </a:rPr>
              <a:t>xcvr-emu container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4059936"/>
            <a:ext cx="3200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6B7480"/>
                </a:solidFill>
                <a:latin typeface="Calibri"/>
              </a:rPr>
              <a:t>--network host, :50051</a:t>
            </a:r>
          </a:p>
          <a:p>
            <a:pPr algn="l"/>
            <a:r>
              <a:rPr sz="1100" b="1" i="0">
                <a:solidFill>
                  <a:srgbClr val="1F2328"/>
                </a:solidFill>
                <a:latin typeface="Calibri"/>
              </a:rPr>
              <a:t>xcvr-emud:</a:t>
            </a:r>
          </a:p>
          <a:p>
            <a:pPr algn="l"/>
            <a:r>
              <a:rPr sz="1100" b="0" i="0">
                <a:solidFill>
                  <a:srgbClr val="36414A"/>
                </a:solidFill>
                <a:latin typeface="Calibri"/>
              </a:rPr>
              <a:t>Read/Write · UpdateInfo · List · Monitor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79976" y="3657600"/>
            <a:ext cx="3429000" cy="137160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44568" y="373075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6414A"/>
                </a:solidFill>
                <a:latin typeface="Calibri"/>
              </a:rPr>
              <a:t>redis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4059936"/>
            <a:ext cx="3200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F2328"/>
                </a:solidFill>
                <a:latin typeface="Calibri"/>
              </a:rPr>
              <a:t>STATE_DB:</a:t>
            </a:r>
          </a:p>
          <a:p>
            <a:pPr algn="l"/>
            <a:r>
              <a:rPr sz="1100" b="0" i="0">
                <a:solidFill>
                  <a:srgbClr val="36414A"/>
                </a:solidFill>
                <a:latin typeface="Calibri"/>
              </a:rPr>
              <a:t>TRANSCEIVER_INFO / DOM / STATUS_SW</a:t>
            </a:r>
          </a:p>
          <a:p>
            <a:pPr algn="l"/>
            <a:r>
              <a:rPr sz="1100" b="1" i="0">
                <a:solidFill>
                  <a:srgbClr val="1F2328"/>
                </a:solidFill>
                <a:latin typeface="Calibri"/>
              </a:rPr>
              <a:t>XCVR_EMU_INJECT  </a:t>
            </a:r>
            <a:r>
              <a:rPr sz="1100" b="0" i="1">
                <a:solidFill>
                  <a:srgbClr val="6B7480"/>
                </a:solidFill>
                <a:latin typeface="Calibri"/>
              </a:rPr>
              <a:t>(test hook)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19872" y="3657600"/>
            <a:ext cx="3429000" cy="137160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84464" y="373075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6414A"/>
                </a:solidFill>
                <a:latin typeface="Calibri"/>
              </a:rPr>
              <a:t>pmon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4059936"/>
            <a:ext cx="3200400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 err="1">
                <a:solidFill>
                  <a:srgbClr val="1F2328"/>
                </a:solidFill>
                <a:latin typeface="Calibri"/>
              </a:rPr>
              <a:t>xcvrd</a:t>
            </a:r>
            <a:r>
              <a:rPr sz="1100" b="1" i="0" dirty="0">
                <a:solidFill>
                  <a:srgbClr val="1F2328"/>
                </a:solidFill>
                <a:latin typeface="Calibri"/>
              </a:rPr>
              <a:t>  </a:t>
            </a:r>
            <a:r>
              <a:rPr sz="1100" b="1" i="1" dirty="0">
                <a:solidFill>
                  <a:srgbClr val="EE0000"/>
                </a:solidFill>
                <a:latin typeface="Calibri"/>
              </a:rPr>
              <a:t>← SUT (untouched)</a:t>
            </a:r>
          </a:p>
          <a:p>
            <a:pPr algn="l"/>
            <a:r>
              <a:rPr sz="1100" b="1" i="0" dirty="0" err="1">
                <a:solidFill>
                  <a:srgbClr val="1F2328"/>
                </a:solidFill>
                <a:latin typeface="Calibri"/>
              </a:rPr>
              <a:t>sonic_platform</a:t>
            </a:r>
            <a:r>
              <a:rPr sz="1100" b="1" i="0" dirty="0">
                <a:solidFill>
                  <a:srgbClr val="1F2328"/>
                </a:solidFill>
                <a:latin typeface="Calibri"/>
              </a:rPr>
              <a:t> bridge</a:t>
            </a:r>
          </a:p>
          <a:p>
            <a:pPr algn="l"/>
            <a:r>
              <a:rPr sz="1100" b="0" i="0" dirty="0">
                <a:solidFill>
                  <a:srgbClr val="36414A"/>
                </a:solidFill>
                <a:latin typeface="Calibri"/>
              </a:rPr>
              <a:t>(Chassis / </a:t>
            </a:r>
            <a:r>
              <a:rPr sz="1100" b="0" i="0" dirty="0" err="1">
                <a:solidFill>
                  <a:srgbClr val="36414A"/>
                </a:solidFill>
                <a:latin typeface="Calibri"/>
              </a:rPr>
              <a:t>Sfp</a:t>
            </a:r>
            <a:r>
              <a:rPr sz="1100" b="0" i="0" dirty="0">
                <a:solidFill>
                  <a:srgbClr val="36414A"/>
                </a:solidFill>
                <a:latin typeface="Calibri"/>
              </a:rPr>
              <a:t>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257800"/>
            <a:ext cx="1090879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53492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F2328"/>
                </a:solidFill>
                <a:latin typeface="Calibri"/>
              </a:rPr>
              <a:t>Error injection</a:t>
            </a:r>
            <a:r>
              <a:rPr sz="1200" b="0" i="0">
                <a:solidFill>
                  <a:srgbClr val="36414A"/>
                </a:solidFill>
                <a:latin typeface="Calibri"/>
              </a:rPr>
              <a:t>  —  faults are platform / bus-level conditions, not module state, so tests inject them via the </a:t>
            </a:r>
            <a:r>
              <a:rPr sz="1200" b="1" i="0">
                <a:solidFill>
                  <a:srgbClr val="1F2328"/>
                </a:solidFill>
                <a:latin typeface="Consolas"/>
              </a:rPr>
              <a:t>XCVR_EMU_INJECT</a:t>
            </a:r>
            <a:r>
              <a:rPr sz="1200" b="0" i="0">
                <a:solidFill>
                  <a:srgbClr val="36414A"/>
                </a:solidFill>
                <a:latin typeface="Calibri"/>
              </a:rPr>
              <a:t> hook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8704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F2328"/>
                </a:solidFill>
                <a:latin typeface="Calibri"/>
              </a:rPr>
              <a:t>SFP error bitmap:  </a:t>
            </a:r>
            <a:r>
              <a:rPr sz="1150" b="0" i="0">
                <a:solidFill>
                  <a:srgbClr val="36414A"/>
                </a:solidFill>
                <a:latin typeface="Calibri"/>
              </a:rPr>
              <a:t>I2C bus stuck · bad/unsupported EEPROM · unsupported cable · high temperature · bad cable (shorted)  —  blocking vs non-blocking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7DF5A0-3BCB-FB98-5FA3-25DF17FE652E}"/>
              </a:ext>
            </a:extLst>
          </p:cNvPr>
          <p:cNvSpPr txBox="1"/>
          <p:nvPr/>
        </p:nvSpPr>
        <p:spPr>
          <a:xfrm rot="16200000">
            <a:off x="35674" y="4193309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DUT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777240"/>
            <a:ext cx="108813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>
                <a:solidFill>
                  <a:srgbClr val="1F2328"/>
                </a:solidFill>
                <a:latin typeface="Georgia"/>
              </a:rPr>
              <a:t>The E2E suite — ~</a:t>
            </a:r>
            <a:r>
              <a:rPr lang="en-US" sz="2800" b="1" i="0" dirty="0">
                <a:solidFill>
                  <a:srgbClr val="1F2328"/>
                </a:solidFill>
                <a:latin typeface="Georgia"/>
              </a:rPr>
              <a:t>100 tests</a:t>
            </a:r>
            <a:endParaRPr sz="2800" b="1" i="0" dirty="0">
              <a:solidFill>
                <a:srgbClr val="1F2328"/>
              </a:solidFill>
              <a:latin typeface="Georgia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40080" y="1600200"/>
            <a:ext cx="10908792" cy="0"/>
          </a:xfrm>
          <a:prstGeom prst="line">
            <a:avLst/>
          </a:prstGeom>
          <a:ln w="12700">
            <a:solidFill>
              <a:srgbClr val="C9CD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1874519"/>
            <a:ext cx="539496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7744" indent="-237744">
              <a:spcAft>
                <a:spcPts val="1400"/>
              </a:spcAft>
              <a:buFont typeface="Calibri"/>
              <a:buChar char="–"/>
            </a:pPr>
            <a:r>
              <a:rPr sz="1500" b="1">
                <a:solidFill>
                  <a:srgbClr val="1F2328"/>
                </a:solidFill>
                <a:latin typeface="Calibri"/>
              </a:rPr>
              <a:t>Presence</a:t>
            </a:r>
            <a:r>
              <a:rPr sz="1500" b="0">
                <a:solidFill>
                  <a:srgbClr val="36414A"/>
                </a:solidFill>
                <a:latin typeface="Calibri"/>
              </a:rPr>
              <a:t>  —  plug/unplug clears &amp; restores</a:t>
            </a:r>
          </a:p>
          <a:p>
            <a:pPr marL="237744" indent="-237744">
              <a:spcAft>
                <a:spcPts val="1400"/>
              </a:spcAft>
              <a:buFont typeface="Calibri"/>
              <a:buChar char="–"/>
            </a:pPr>
            <a:r>
              <a:rPr sz="1500" b="1">
                <a:solidFill>
                  <a:srgbClr val="1F2328"/>
                </a:solidFill>
                <a:latin typeface="Calibri"/>
              </a:rPr>
              <a:t>Identity</a:t>
            </a:r>
            <a:r>
              <a:rPr sz="1500" b="0">
                <a:solidFill>
                  <a:srgbClr val="36414A"/>
                </a:solidFill>
                <a:latin typeface="Calibri"/>
              </a:rPr>
              <a:t>  —  vendor / PN / serial / type</a:t>
            </a:r>
          </a:p>
          <a:p>
            <a:pPr marL="237744" indent="-237744">
              <a:spcAft>
                <a:spcPts val="1400"/>
              </a:spcAft>
              <a:buFont typeface="Calibri"/>
              <a:buChar char="–"/>
            </a:pPr>
            <a:r>
              <a:rPr sz="1500" b="1">
                <a:solidFill>
                  <a:srgbClr val="1F2328"/>
                </a:solidFill>
                <a:latin typeface="Calibri"/>
              </a:rPr>
              <a:t>DOM sensors</a:t>
            </a:r>
            <a:r>
              <a:rPr sz="1500" b="0">
                <a:solidFill>
                  <a:srgbClr val="36414A"/>
                </a:solidFill>
                <a:latin typeface="Calibri"/>
              </a:rPr>
              <a:t>  —  temperature, voltage, power</a:t>
            </a:r>
          </a:p>
          <a:p>
            <a:pPr marL="237744" indent="-237744">
              <a:spcAft>
                <a:spcPts val="1400"/>
              </a:spcAft>
              <a:buFont typeface="Calibri"/>
              <a:buChar char="–"/>
            </a:pPr>
            <a:r>
              <a:rPr sz="1500" b="1">
                <a:solidFill>
                  <a:srgbClr val="1F2328"/>
                </a:solidFill>
                <a:latin typeface="Calibri"/>
              </a:rPr>
              <a:t>DOM cadence</a:t>
            </a:r>
            <a:r>
              <a:rPr sz="1500" b="0">
                <a:solidFill>
                  <a:srgbClr val="36414A"/>
                </a:solidFill>
                <a:latin typeface="Calibri"/>
              </a:rPr>
              <a:t>  —  poll, gating, flags, lpmode</a:t>
            </a:r>
          </a:p>
          <a:p>
            <a:pPr marL="237744" indent="-237744">
              <a:spcAft>
                <a:spcPts val="1400"/>
              </a:spcAft>
              <a:buFont typeface="Calibri"/>
              <a:buChar char="–"/>
            </a:pPr>
            <a:r>
              <a:rPr sz="1500" b="1">
                <a:solidFill>
                  <a:srgbClr val="1F2328"/>
                </a:solidFill>
                <a:latin typeface="Calibri"/>
              </a:rPr>
              <a:t>CMIS datapath</a:t>
            </a:r>
            <a:r>
              <a:rPr sz="1500" b="0">
                <a:solidFill>
                  <a:srgbClr val="36414A"/>
                </a:solidFill>
                <a:latin typeface="Calibri"/>
              </a:rPr>
              <a:t>  —  bring-up, reconfig, forced-tx</a:t>
            </a:r>
          </a:p>
          <a:p>
            <a:pPr marL="237744" indent="-237744">
              <a:spcAft>
                <a:spcPts val="1400"/>
              </a:spcAft>
              <a:buFont typeface="Calibri"/>
              <a:buChar char="–"/>
            </a:pPr>
            <a:r>
              <a:rPr sz="1500" b="1">
                <a:solidFill>
                  <a:srgbClr val="1F2328"/>
                </a:solidFill>
                <a:latin typeface="Calibri"/>
              </a:rPr>
              <a:t>CMIS state</a:t>
            </a:r>
            <a:r>
              <a:rPr sz="1500" b="0">
                <a:solidFill>
                  <a:srgbClr val="36414A"/>
                </a:solidFill>
                <a:latin typeface="Calibri"/>
              </a:rPr>
              <a:t>  —  progression &amp; failure handling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874519"/>
            <a:ext cx="539496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7744" indent="-237744">
              <a:spcAft>
                <a:spcPts val="1400"/>
              </a:spcAft>
              <a:buFont typeface="Calibri"/>
              <a:buChar char="–"/>
            </a:pPr>
            <a:r>
              <a:rPr sz="1500" b="1">
                <a:solidFill>
                  <a:srgbClr val="1F2328"/>
                </a:solidFill>
                <a:latin typeface="Calibri"/>
              </a:rPr>
              <a:t>Status &amp; flags</a:t>
            </a:r>
            <a:r>
              <a:rPr sz="1500" b="0">
                <a:solidFill>
                  <a:srgbClr val="36414A"/>
                </a:solidFill>
                <a:latin typeface="Calibri"/>
              </a:rPr>
              <a:t>  —  STATUS_SW, fault flags</a:t>
            </a:r>
          </a:p>
          <a:p>
            <a:pPr marL="237744" indent="-237744">
              <a:spcAft>
                <a:spcPts val="1400"/>
              </a:spcAft>
              <a:buFont typeface="Calibri"/>
              <a:buChar char="–"/>
            </a:pPr>
            <a:r>
              <a:rPr sz="1500" b="1">
                <a:solidFill>
                  <a:srgbClr val="1F2328"/>
                </a:solidFill>
                <a:latin typeface="Calibri"/>
              </a:rPr>
              <a:t>Error injection</a:t>
            </a:r>
            <a:r>
              <a:rPr sz="1500" b="0">
                <a:solidFill>
                  <a:srgbClr val="36414A"/>
                </a:solidFill>
                <a:latin typeface="Calibri"/>
              </a:rPr>
              <a:t>  —  I2C / EEPROM / temp faults</a:t>
            </a:r>
          </a:p>
          <a:p>
            <a:pPr marL="237744" indent="-237744">
              <a:spcAft>
                <a:spcPts val="1400"/>
              </a:spcAft>
              <a:buFont typeface="Calibri"/>
              <a:buChar char="–"/>
            </a:pPr>
            <a:r>
              <a:rPr sz="1500" b="1">
                <a:solidFill>
                  <a:srgbClr val="1F2328"/>
                </a:solidFill>
                <a:latin typeface="Calibri"/>
              </a:rPr>
              <a:t>Firmware &amp; VDM</a:t>
            </a:r>
            <a:r>
              <a:rPr sz="1500" b="0">
                <a:solidFill>
                  <a:srgbClr val="36414A"/>
                </a:solidFill>
                <a:latin typeface="Calibri"/>
              </a:rPr>
              <a:t>  —  firmware info, VDM thresholds</a:t>
            </a:r>
          </a:p>
          <a:p>
            <a:pPr marL="237744" indent="-237744">
              <a:spcAft>
                <a:spcPts val="1400"/>
              </a:spcAft>
              <a:buFont typeface="Calibri"/>
              <a:buChar char="–"/>
            </a:pPr>
            <a:r>
              <a:rPr sz="1500" b="1">
                <a:solidFill>
                  <a:srgbClr val="1F2328"/>
                </a:solidFill>
                <a:latin typeface="Calibri"/>
              </a:rPr>
              <a:t>Control</a:t>
            </a:r>
            <a:r>
              <a:rPr sz="1500" b="0">
                <a:solidFill>
                  <a:srgbClr val="36414A"/>
                </a:solidFill>
                <a:latin typeface="Calibri"/>
              </a:rPr>
              <a:t>  —  reset, lpmode, host-tx-ready</a:t>
            </a:r>
          </a:p>
          <a:p>
            <a:pPr marL="237744" indent="-237744">
              <a:spcAft>
                <a:spcPts val="1400"/>
              </a:spcAft>
              <a:buFont typeface="Calibri"/>
              <a:buChar char="–"/>
            </a:pPr>
            <a:r>
              <a:rPr sz="1500" b="1">
                <a:solidFill>
                  <a:srgbClr val="1F2328"/>
                </a:solidFill>
                <a:latin typeface="Calibri"/>
              </a:rPr>
              <a:t>Media &amp; SI</a:t>
            </a:r>
            <a:r>
              <a:rPr sz="1500" b="0">
                <a:solidFill>
                  <a:srgbClr val="36414A"/>
                </a:solidFill>
                <a:latin typeface="Calibri"/>
              </a:rPr>
              <a:t>  —  media settings, signal-integrity</a:t>
            </a:r>
          </a:p>
          <a:p>
            <a:pPr marL="237744" indent="-237744">
              <a:spcAft>
                <a:spcPts val="1400"/>
              </a:spcAft>
              <a:buFont typeface="Calibri"/>
              <a:buChar char="–"/>
            </a:pPr>
            <a:r>
              <a:rPr sz="1500" b="1">
                <a:solidFill>
                  <a:srgbClr val="1F2328"/>
                </a:solidFill>
                <a:latin typeface="Calibri"/>
              </a:rPr>
              <a:t>Non-CMIS &amp; reboot</a:t>
            </a:r>
            <a:r>
              <a:rPr sz="1500" b="0">
                <a:solidFill>
                  <a:srgbClr val="36414A"/>
                </a:solidFill>
                <a:latin typeface="Calibri"/>
              </a:rPr>
              <a:t>  —  SFF-8636, warm / fast reboot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89320" y="1874519"/>
            <a:ext cx="0" cy="3611881"/>
          </a:xfrm>
          <a:prstGeom prst="line">
            <a:avLst/>
          </a:prstGeom>
          <a:ln w="9525">
            <a:solidFill>
              <a:srgbClr val="C9CD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5806440"/>
            <a:ext cx="1088136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50" i="1">
                <a:solidFill>
                  <a:srgbClr val="6B7480"/>
                </a:solidFill>
                <a:latin typeface="Calibri"/>
              </a:rPr>
              <a:t>Robustness gates:  golden conformance · multiport isolation · read-retry · health baseline · perf-monitoring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777240"/>
            <a:ext cx="108813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800" b="1" i="0" dirty="0">
                <a:solidFill>
                  <a:srgbClr val="1F2328"/>
                </a:solidFill>
                <a:latin typeface="Georgia"/>
              </a:rPr>
              <a:t>The Oracle</a:t>
            </a:r>
            <a:r>
              <a:rPr sz="2800" b="1" i="0" dirty="0">
                <a:solidFill>
                  <a:srgbClr val="1F2328"/>
                </a:solidFill>
                <a:latin typeface="Georgia"/>
              </a:rPr>
              <a:t>— takeaways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600200"/>
            <a:ext cx="10908792" cy="0"/>
          </a:xfrm>
          <a:prstGeom prst="line">
            <a:avLst/>
          </a:prstGeom>
          <a:ln w="12700">
            <a:solidFill>
              <a:srgbClr val="C9CD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874519"/>
            <a:ext cx="1088136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>
              <a:spcAft>
                <a:spcPts val="1500"/>
              </a:spcAft>
              <a:buFont typeface="Calibri"/>
              <a:buChar char="–"/>
            </a:pPr>
            <a:r>
              <a:rPr sz="1600" b="0" i="0" dirty="0">
                <a:solidFill>
                  <a:srgbClr val="36414A"/>
                </a:solidFill>
                <a:latin typeface="Calibri"/>
              </a:rPr>
              <a:t>A </a:t>
            </a:r>
            <a:r>
              <a:rPr sz="1600" b="1" i="0" dirty="0">
                <a:solidFill>
                  <a:srgbClr val="1F2328"/>
                </a:solidFill>
                <a:latin typeface="Calibri"/>
              </a:rPr>
              <a:t>hardware-free E2E oracle</a:t>
            </a:r>
            <a:r>
              <a:rPr sz="1600" b="0" i="0" dirty="0">
                <a:solidFill>
                  <a:srgbClr val="36414A"/>
                </a:solidFill>
                <a:latin typeface="Calibri"/>
              </a:rPr>
              <a:t> that runs the real daemon and asserts on real state</a:t>
            </a:r>
          </a:p>
          <a:p>
            <a:pPr marL="256032" indent="-256032">
              <a:spcAft>
                <a:spcPts val="1500"/>
              </a:spcAft>
              <a:buFont typeface="Calibri"/>
              <a:buChar char="–"/>
            </a:pPr>
            <a:r>
              <a:rPr sz="1600" b="1" i="0" dirty="0">
                <a:solidFill>
                  <a:srgbClr val="3B7A57"/>
                </a:solidFill>
                <a:latin typeface="Calibri"/>
              </a:rPr>
              <a:t>Sanity-checked:  </a:t>
            </a:r>
            <a:r>
              <a:rPr sz="1600" b="0" i="0" dirty="0">
                <a:solidFill>
                  <a:srgbClr val="36414A"/>
                </a:solidFill>
                <a:latin typeface="Calibri"/>
              </a:rPr>
              <a:t>a no-op </a:t>
            </a:r>
            <a:r>
              <a:rPr sz="1600" b="0" i="0" dirty="0" err="1">
                <a:solidFill>
                  <a:srgbClr val="36414A"/>
                </a:solidFill>
                <a:latin typeface="Calibri"/>
              </a:rPr>
              <a:t>xcvrd</a:t>
            </a:r>
            <a:r>
              <a:rPr sz="1600" b="0" i="0" dirty="0">
                <a:solidFill>
                  <a:srgbClr val="36414A"/>
                </a:solidFill>
                <a:latin typeface="Calibri"/>
              </a:rPr>
              <a:t> correctly </a:t>
            </a:r>
            <a:r>
              <a:rPr sz="1600" b="1" i="0" dirty="0">
                <a:solidFill>
                  <a:srgbClr val="9A3B3B"/>
                </a:solidFill>
                <a:latin typeface="Calibri"/>
              </a:rPr>
              <a:t>fails</a:t>
            </a:r>
            <a:r>
              <a:rPr sz="1600" b="0" i="0" dirty="0">
                <a:solidFill>
                  <a:srgbClr val="36414A"/>
                </a:solidFill>
                <a:latin typeface="Calibri"/>
              </a:rPr>
              <a:t> the suite — the tests bite</a:t>
            </a:r>
          </a:p>
          <a:p>
            <a:pPr marL="256032" indent="-256032">
              <a:spcAft>
                <a:spcPts val="1500"/>
              </a:spcAft>
              <a:buFont typeface="Calibri"/>
              <a:buChar char="–"/>
            </a:pPr>
            <a:r>
              <a:rPr sz="1600" b="0" i="0" dirty="0">
                <a:solidFill>
                  <a:srgbClr val="36414A"/>
                </a:solidFill>
                <a:latin typeface="Calibri"/>
              </a:rPr>
              <a:t>Also validated against </a:t>
            </a:r>
            <a:r>
              <a:rPr sz="1600" b="0" i="0" dirty="0">
                <a:solidFill>
                  <a:srgbClr val="36414A"/>
                </a:solidFill>
                <a:latin typeface="Consolas"/>
              </a:rPr>
              <a:t>sonic-</a:t>
            </a:r>
            <a:r>
              <a:rPr sz="1600" b="0" i="0" dirty="0" err="1">
                <a:solidFill>
                  <a:srgbClr val="36414A"/>
                </a:solidFill>
                <a:latin typeface="Consolas"/>
              </a:rPr>
              <a:t>mgmt</a:t>
            </a:r>
            <a:r>
              <a:rPr sz="1600" b="0" i="0" dirty="0">
                <a:solidFill>
                  <a:srgbClr val="36414A"/>
                </a:solidFill>
                <a:latin typeface="Calibri"/>
              </a:rPr>
              <a:t> black-box tests on the Python baseline</a:t>
            </a:r>
          </a:p>
          <a:p>
            <a:pPr marL="256032" indent="-256032">
              <a:spcAft>
                <a:spcPts val="1500"/>
              </a:spcAft>
              <a:buFont typeface="Calibri"/>
              <a:buChar char="–"/>
            </a:pPr>
            <a:r>
              <a:rPr sz="1600" b="0" i="0" dirty="0">
                <a:solidFill>
                  <a:srgbClr val="36414A"/>
                </a:solidFill>
                <a:latin typeface="Calibri"/>
              </a:rPr>
              <a:t>This suite becomes the </a:t>
            </a:r>
            <a:r>
              <a:rPr sz="1600" b="1" i="0" dirty="0">
                <a:solidFill>
                  <a:srgbClr val="1F2328"/>
                </a:solidFill>
                <a:latin typeface="Calibri"/>
              </a:rPr>
              <a:t>baseline &amp; objective</a:t>
            </a:r>
            <a:r>
              <a:rPr sz="1600" b="0" i="0" dirty="0">
                <a:solidFill>
                  <a:srgbClr val="36414A"/>
                </a:solidFill>
                <a:latin typeface="Calibri"/>
              </a:rPr>
              <a:t> for the automated port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2960" y="1737360"/>
            <a:ext cx="9601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 i="0">
                <a:solidFill>
                  <a:srgbClr val="1F2328"/>
                </a:solidFill>
                <a:latin typeface="Georgia"/>
              </a:rPr>
              <a:t>Automated Python → Rust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2926080"/>
            <a:ext cx="2834640" cy="0"/>
          </a:xfrm>
          <a:prstGeom prst="line">
            <a:avLst/>
          </a:prstGeom>
          <a:ln w="15875">
            <a:solidFill>
              <a:srgbClr val="C9CD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68680" y="3246120"/>
            <a:ext cx="10424160" cy="15081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>
              <a:spcAft>
                <a:spcPts val="1200"/>
              </a:spcAft>
              <a:buFont typeface="Calibri"/>
              <a:buChar char="–"/>
            </a:pPr>
            <a:r>
              <a:rPr sz="1700" b="0" i="0" dirty="0">
                <a:solidFill>
                  <a:srgbClr val="36414A"/>
                </a:solidFill>
                <a:latin typeface="Calibri"/>
              </a:rPr>
              <a:t>The conversion challenge and related work (</a:t>
            </a:r>
            <a:r>
              <a:rPr sz="1700" b="0" i="0" dirty="0" err="1">
                <a:solidFill>
                  <a:srgbClr val="36414A"/>
                </a:solidFill>
                <a:latin typeface="Calibri"/>
              </a:rPr>
              <a:t>ReCodeAgent</a:t>
            </a:r>
            <a:r>
              <a:rPr sz="1700" b="0" i="0" dirty="0">
                <a:solidFill>
                  <a:srgbClr val="36414A"/>
                </a:solidFill>
                <a:latin typeface="Calibri"/>
              </a:rPr>
              <a:t>)</a:t>
            </a:r>
          </a:p>
          <a:p>
            <a:pPr marL="256032" indent="-256032">
              <a:spcAft>
                <a:spcPts val="1200"/>
              </a:spcAft>
              <a:buFont typeface="Calibri"/>
              <a:buChar char="–"/>
            </a:pPr>
            <a:r>
              <a:rPr lang="en-US" sz="1700" b="1" i="0" dirty="0" err="1">
                <a:solidFill>
                  <a:srgbClr val="1F2328"/>
                </a:solidFill>
                <a:latin typeface="Calibri"/>
              </a:rPr>
              <a:t>CodeWeaver</a:t>
            </a:r>
            <a:r>
              <a:rPr lang="en-US" sz="1700" b="1" i="0" dirty="0">
                <a:solidFill>
                  <a:srgbClr val="1F2328"/>
                </a:solidFill>
                <a:latin typeface="Calibri"/>
              </a:rPr>
              <a:t> </a:t>
            </a:r>
            <a:r>
              <a:rPr sz="1700" b="0" i="0" dirty="0">
                <a:solidFill>
                  <a:srgbClr val="36414A"/>
                </a:solidFill>
                <a:latin typeface="Calibri"/>
              </a:rPr>
              <a:t>—  a deterministic multi-agent pipeline</a:t>
            </a:r>
          </a:p>
          <a:p>
            <a:pPr marL="256032" indent="-256032">
              <a:spcAft>
                <a:spcPts val="1200"/>
              </a:spcAft>
              <a:buFont typeface="Calibri"/>
              <a:buChar char="–"/>
            </a:pPr>
            <a:r>
              <a:rPr sz="1700" b="0" i="0" dirty="0">
                <a:solidFill>
                  <a:srgbClr val="36414A"/>
                </a:solidFill>
                <a:latin typeface="Calibri"/>
              </a:rPr>
              <a:t>Milestones, tools, and reversible on-DUT validation</a:t>
            </a:r>
          </a:p>
          <a:p>
            <a:pPr marL="256032" indent="-256032">
              <a:spcAft>
                <a:spcPts val="1200"/>
              </a:spcAft>
              <a:buFont typeface="Calibri"/>
              <a:buChar char="–"/>
            </a:pPr>
            <a:r>
              <a:rPr sz="1700" b="0" i="0" dirty="0">
                <a:solidFill>
                  <a:srgbClr val="36414A"/>
                </a:solidFill>
                <a:latin typeface="Calibri"/>
              </a:rPr>
              <a:t>Results:  a verified Rust port + the </a:t>
            </a:r>
            <a:r>
              <a:rPr sz="1700" b="0" i="0" dirty="0" err="1">
                <a:solidFill>
                  <a:srgbClr val="36414A"/>
                </a:solidFill>
                <a:latin typeface="Calibri"/>
              </a:rPr>
              <a:t>CodeWeaver</a:t>
            </a:r>
            <a:r>
              <a:rPr sz="1700" b="0" i="0" dirty="0">
                <a:solidFill>
                  <a:srgbClr val="36414A"/>
                </a:solidFill>
                <a:latin typeface="Calibri"/>
              </a:rPr>
              <a:t> framework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2328"/>
                </a:solidFill>
                <a:latin typeface="Georgia"/>
              </a:rPr>
              <a:t>The conversion challenge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600200"/>
            <a:ext cx="10908792" cy="0"/>
          </a:xfrm>
          <a:prstGeom prst="line">
            <a:avLst/>
          </a:prstGeom>
          <a:ln w="12700">
            <a:solidFill>
              <a:srgbClr val="C9CD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874519"/>
            <a:ext cx="10881360" cy="1097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>
              <a:spcAft>
                <a:spcPts val="1400"/>
              </a:spcAft>
              <a:buFont typeface="Calibri"/>
              <a:buChar char="–"/>
            </a:pPr>
            <a:r>
              <a:rPr sz="1600" b="1" i="0" dirty="0">
                <a:solidFill>
                  <a:srgbClr val="1F2328"/>
                </a:solidFill>
                <a:latin typeface="Calibri"/>
              </a:rPr>
              <a:t>Whole-daemon Python → Rust is too big for one LLM pass</a:t>
            </a:r>
          </a:p>
          <a:p>
            <a:pPr marL="256032" indent="-256032">
              <a:spcAft>
                <a:spcPts val="1400"/>
              </a:spcAft>
              <a:buFont typeface="Calibri"/>
              <a:buChar char="–"/>
            </a:pPr>
            <a:r>
              <a:rPr sz="1600" b="0" i="0" dirty="0">
                <a:solidFill>
                  <a:srgbClr val="36414A"/>
                </a:solidFill>
                <a:latin typeface="Calibri"/>
              </a:rPr>
              <a:t>Naive translation compiles but is </a:t>
            </a:r>
            <a:r>
              <a:rPr sz="1600" b="1" i="0" dirty="0">
                <a:solidFill>
                  <a:srgbClr val="1F2328"/>
                </a:solidFill>
                <a:latin typeface="Calibri"/>
              </a:rPr>
              <a:t>subtly wrong</a:t>
            </a:r>
            <a:r>
              <a:rPr sz="1600" b="0" i="0" dirty="0">
                <a:solidFill>
                  <a:srgbClr val="36414A"/>
                </a:solidFill>
                <a:latin typeface="Calibri"/>
              </a:rPr>
              <a:t> — semantics drift</a:t>
            </a:r>
          </a:p>
          <a:p>
            <a:pPr marL="256032" indent="-256032">
              <a:spcAft>
                <a:spcPts val="1400"/>
              </a:spcAft>
              <a:buFont typeface="Calibri"/>
              <a:buChar char="–"/>
            </a:pPr>
            <a:r>
              <a:rPr sz="1600" b="1" i="0" dirty="0">
                <a:solidFill>
                  <a:srgbClr val="3B7A57"/>
                </a:solidFill>
                <a:latin typeface="Calibri"/>
              </a:rPr>
              <a:t>Need:  </a:t>
            </a:r>
            <a:r>
              <a:rPr sz="1600" b="0" i="0" dirty="0">
                <a:solidFill>
                  <a:srgbClr val="36414A"/>
                </a:solidFill>
                <a:latin typeface="Calibri"/>
              </a:rPr>
              <a:t>decomposition + automatic validation + a repair loo</a:t>
            </a:r>
            <a:r>
              <a:rPr lang="en-US" sz="1600" b="0" i="0" dirty="0">
                <a:solidFill>
                  <a:srgbClr val="36414A"/>
                </a:solidFill>
                <a:latin typeface="Calibri"/>
              </a:rPr>
              <a:t>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2328"/>
                </a:solidFill>
                <a:latin typeface="Georgia"/>
              </a:rPr>
              <a:t>Related work — ReCodeAgent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600200"/>
            <a:ext cx="10908792" cy="0"/>
          </a:xfrm>
          <a:prstGeom prst="line">
            <a:avLst/>
          </a:prstGeom>
          <a:ln w="12700">
            <a:solidFill>
              <a:srgbClr val="C9CD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874519"/>
            <a:ext cx="10881360" cy="15234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>
              <a:spcAft>
                <a:spcPts val="1400"/>
              </a:spcAft>
              <a:buFont typeface="Calibri"/>
              <a:buChar char="–"/>
            </a:pPr>
            <a:r>
              <a:rPr sz="1600" b="0" i="0" dirty="0">
                <a:solidFill>
                  <a:srgbClr val="36414A"/>
                </a:solidFill>
                <a:latin typeface="Calibri"/>
              </a:rPr>
              <a:t>Builds on </a:t>
            </a:r>
            <a:r>
              <a:rPr sz="1600" b="1" i="0" dirty="0" err="1">
                <a:solidFill>
                  <a:srgbClr val="1F2328"/>
                </a:solidFill>
                <a:latin typeface="Calibri"/>
              </a:rPr>
              <a:t>ReCodeAgent</a:t>
            </a:r>
            <a:r>
              <a:rPr sz="1600" b="0" i="0" dirty="0">
                <a:solidFill>
                  <a:srgbClr val="6B7480"/>
                </a:solidFill>
                <a:latin typeface="Consolas"/>
              </a:rPr>
              <a:t>  (arXiv:2604.07341)</a:t>
            </a:r>
          </a:p>
          <a:p>
            <a:pPr marL="256032" indent="-256032">
              <a:spcAft>
                <a:spcPts val="1400"/>
              </a:spcAft>
              <a:buFont typeface="Calibri"/>
              <a:buChar char="–"/>
            </a:pPr>
            <a:r>
              <a:rPr sz="1600" b="0" i="0" dirty="0">
                <a:solidFill>
                  <a:srgbClr val="36414A"/>
                </a:solidFill>
                <a:latin typeface="Calibri"/>
              </a:rPr>
              <a:t>Multi-agent code translation with a </a:t>
            </a:r>
            <a:r>
              <a:rPr sz="1600" b="1" i="0" dirty="0">
                <a:solidFill>
                  <a:srgbClr val="1F2328"/>
                </a:solidFill>
                <a:latin typeface="Calibri"/>
              </a:rPr>
              <a:t>plan → translate → test → verify</a:t>
            </a:r>
            <a:r>
              <a:rPr sz="1600" b="0" i="0" dirty="0">
                <a:solidFill>
                  <a:srgbClr val="36414A"/>
                </a:solidFill>
                <a:latin typeface="Calibri"/>
              </a:rPr>
              <a:t> loop</a:t>
            </a:r>
          </a:p>
          <a:p>
            <a:pPr marL="256032" indent="-256032">
              <a:spcAft>
                <a:spcPts val="1400"/>
              </a:spcAft>
              <a:buFont typeface="Calibri"/>
              <a:buChar char="–"/>
            </a:pPr>
            <a:r>
              <a:rPr sz="1600" b="1" i="0" dirty="0">
                <a:solidFill>
                  <a:srgbClr val="3B7A57"/>
                </a:solidFill>
                <a:latin typeface="Calibri"/>
              </a:rPr>
              <a:t>Our adaptation:  </a:t>
            </a:r>
            <a:r>
              <a:rPr sz="1600" b="0" i="0" dirty="0">
                <a:solidFill>
                  <a:srgbClr val="36414A"/>
                </a:solidFill>
                <a:latin typeface="Calibri"/>
              </a:rPr>
              <a:t>specialized to </a:t>
            </a:r>
            <a:r>
              <a:rPr sz="1600" b="0" i="0" dirty="0" err="1">
                <a:solidFill>
                  <a:srgbClr val="36414A"/>
                </a:solidFill>
                <a:latin typeface="Calibri"/>
              </a:rPr>
              <a:t>xcvrd</a:t>
            </a:r>
            <a:r>
              <a:rPr sz="1600" b="0" i="0" dirty="0">
                <a:solidFill>
                  <a:srgbClr val="36414A"/>
                </a:solidFill>
                <a:latin typeface="Calibri"/>
              </a:rPr>
              <a:t> + our E2E oracle, with deterministic orchestration</a:t>
            </a:r>
            <a:r>
              <a:rPr lang="en-US" sz="1600" b="0" i="0" dirty="0">
                <a:solidFill>
                  <a:srgbClr val="36414A"/>
                </a:solidFill>
                <a:latin typeface="Calibri"/>
              </a:rPr>
              <a:t> + parity verifier</a:t>
            </a:r>
            <a:endParaRPr sz="1600" b="0" i="0" dirty="0">
              <a:solidFill>
                <a:srgbClr val="36414A"/>
              </a:solidFill>
              <a:latin typeface="Calibri"/>
            </a:endParaRPr>
          </a:p>
          <a:p>
            <a:pPr marL="256032" indent="-256032">
              <a:spcAft>
                <a:spcPts val="1400"/>
              </a:spcAft>
              <a:buFont typeface="Calibri"/>
              <a:buChar char="–"/>
            </a:pPr>
            <a:r>
              <a:rPr sz="1600" b="0" i="0" dirty="0">
                <a:solidFill>
                  <a:srgbClr val="36414A"/>
                </a:solidFill>
                <a:latin typeface="Calibri"/>
              </a:rPr>
              <a:t>Validation runs the </a:t>
            </a:r>
            <a:r>
              <a:rPr sz="1600" b="1" i="0" dirty="0">
                <a:solidFill>
                  <a:srgbClr val="1F2328"/>
                </a:solidFill>
                <a:latin typeface="Calibri"/>
              </a:rPr>
              <a:t>real daemon on a live DUT</a:t>
            </a:r>
            <a:r>
              <a:rPr sz="1600" b="0" i="0" dirty="0">
                <a:solidFill>
                  <a:srgbClr val="36414A"/>
                </a:solidFill>
                <a:latin typeface="Calibri"/>
              </a:rPr>
              <a:t>, not just unit tests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777240"/>
            <a:ext cx="108813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800" b="1" i="0" dirty="0" err="1">
                <a:solidFill>
                  <a:srgbClr val="1F2328"/>
                </a:solidFill>
                <a:latin typeface="Georgia"/>
              </a:rPr>
              <a:t>CodeWeaver</a:t>
            </a:r>
            <a:r>
              <a:rPr lang="en-US" sz="2800" b="1" i="0" dirty="0">
                <a:solidFill>
                  <a:srgbClr val="1F2328"/>
                </a:solidFill>
                <a:latin typeface="Georgia"/>
              </a:rPr>
              <a:t> </a:t>
            </a:r>
            <a:r>
              <a:rPr sz="2800" b="1" i="0" dirty="0">
                <a:solidFill>
                  <a:srgbClr val="1F2328"/>
                </a:solidFill>
                <a:latin typeface="Georgia"/>
              </a:rPr>
              <a:t>— deterministic pipeline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600200"/>
            <a:ext cx="10908792" cy="0"/>
          </a:xfrm>
          <a:prstGeom prst="line">
            <a:avLst/>
          </a:prstGeom>
          <a:ln w="12700">
            <a:solidFill>
              <a:srgbClr val="C9CD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82880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alibri"/>
              </a:rPr>
              <a:t>Apache Burr</a:t>
            </a:r>
            <a:r>
              <a:rPr sz="1400" b="0" i="0">
                <a:solidFill>
                  <a:srgbClr val="36414A"/>
                </a:solidFill>
                <a:latin typeface="Calibri"/>
              </a:rPr>
              <a:t>  —  deterministic state machine + telemetry UI + SQLite resume;  every action is a subprocess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977639"/>
            <a:ext cx="5349240" cy="196596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11480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dirty="0">
                <a:solidFill>
                  <a:srgbClr val="1F2328"/>
                </a:solidFill>
                <a:latin typeface="Calibri"/>
              </a:rPr>
              <a:t>Agents  </a:t>
            </a:r>
            <a:r>
              <a:rPr sz="1300" b="0" i="0" dirty="0">
                <a:solidFill>
                  <a:srgbClr val="6B7480"/>
                </a:solidFill>
                <a:latin typeface="Calibri"/>
              </a:rPr>
              <a:t>(GitHub Copilot CLI, Opus, high reasoning)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526280"/>
            <a:ext cx="4937760" cy="7309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>
              <a:spcAft>
                <a:spcPts val="600"/>
              </a:spcAft>
              <a:buFont typeface="Calibri"/>
              <a:buChar char="–"/>
            </a:pPr>
            <a:r>
              <a:rPr sz="1250" b="1" i="0" dirty="0">
                <a:solidFill>
                  <a:srgbClr val="36414A"/>
                </a:solidFill>
                <a:latin typeface="Consolas"/>
              </a:rPr>
              <a:t>analyzer · planner · translator</a:t>
            </a:r>
            <a:r>
              <a:rPr lang="en-US" sz="1250" b="1" dirty="0">
                <a:solidFill>
                  <a:srgbClr val="36414A"/>
                </a:solidFill>
                <a:latin typeface="Consolas"/>
              </a:rPr>
              <a:t> . </a:t>
            </a:r>
            <a:r>
              <a:rPr lang="en-US" sz="1250" b="1" dirty="0" err="1">
                <a:solidFill>
                  <a:srgbClr val="36414A"/>
                </a:solidFill>
                <a:latin typeface="Consolas"/>
              </a:rPr>
              <a:t>scoper</a:t>
            </a:r>
            <a:r>
              <a:rPr lang="en-US" sz="1250" b="1" dirty="0">
                <a:solidFill>
                  <a:srgbClr val="36414A"/>
                </a:solidFill>
                <a:latin typeface="Consolas"/>
              </a:rPr>
              <a:t> . parity</a:t>
            </a:r>
            <a:endParaRPr sz="1250" b="1" i="0" dirty="0">
              <a:solidFill>
                <a:srgbClr val="36414A"/>
              </a:solidFill>
              <a:latin typeface="Consolas"/>
            </a:endParaRPr>
          </a:p>
          <a:p>
            <a:pPr marL="256032" indent="-256032">
              <a:spcAft>
                <a:spcPts val="600"/>
              </a:spcAft>
              <a:buFont typeface="Calibri"/>
              <a:buChar char="–"/>
            </a:pPr>
            <a:r>
              <a:rPr sz="1250" b="0" i="0" dirty="0">
                <a:solidFill>
                  <a:srgbClr val="36414A"/>
                </a:solidFill>
                <a:latin typeface="Calibri"/>
              </a:rPr>
              <a:t>authored as Markdown, specialized for </a:t>
            </a:r>
            <a:r>
              <a:rPr sz="1250" b="0" i="0" dirty="0" err="1">
                <a:solidFill>
                  <a:srgbClr val="36414A"/>
                </a:solidFill>
                <a:latin typeface="Calibri"/>
              </a:rPr>
              <a:t>xcvrd</a:t>
            </a:r>
            <a:endParaRPr sz="1250" b="0" i="0" dirty="0">
              <a:solidFill>
                <a:srgbClr val="36414A"/>
              </a:solidFill>
              <a:latin typeface="Calibri"/>
            </a:endParaRPr>
          </a:p>
          <a:p>
            <a:pPr marL="256032" indent="-256032">
              <a:spcAft>
                <a:spcPts val="600"/>
              </a:spcAft>
              <a:buFont typeface="Calibri"/>
              <a:buChar char="–"/>
            </a:pPr>
            <a:r>
              <a:rPr sz="1250" b="0" i="0" dirty="0">
                <a:solidFill>
                  <a:srgbClr val="36414A"/>
                </a:solidFill>
                <a:latin typeface="Calibri"/>
              </a:rPr>
              <a:t>do the real work via tools (read/edit/shell/LSP/MCP)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9632" y="3977639"/>
            <a:ext cx="5349240" cy="196596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82512" y="411480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328"/>
                </a:solidFill>
                <a:latin typeface="Calibri"/>
              </a:rPr>
              <a:t>Tools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4526280"/>
            <a:ext cx="49377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>
              <a:spcAft>
                <a:spcPts val="600"/>
              </a:spcAft>
              <a:buFont typeface="Calibri"/>
              <a:buChar char="–"/>
            </a:pPr>
            <a:r>
              <a:rPr sz="1250" b="1" i="0">
                <a:solidFill>
                  <a:srgbClr val="1F2328"/>
                </a:solidFill>
                <a:latin typeface="Consolas"/>
              </a:rPr>
              <a:t>validate</a:t>
            </a:r>
            <a:r>
              <a:rPr sz="1250" b="0" i="0">
                <a:solidFill>
                  <a:srgbClr val="36414A"/>
                </a:solidFill>
                <a:latin typeface="Calibri"/>
              </a:rPr>
              <a:t>  —  run the xcvrd E2E tests on the DUT</a:t>
            </a:r>
          </a:p>
          <a:p>
            <a:pPr marL="256032" indent="-256032">
              <a:spcAft>
                <a:spcPts val="600"/>
              </a:spcAft>
              <a:buFont typeface="Calibri"/>
              <a:buChar char="–"/>
            </a:pPr>
            <a:r>
              <a:rPr sz="1250" b="1" i="0">
                <a:solidFill>
                  <a:srgbClr val="1F2328"/>
                </a:solidFill>
                <a:latin typeface="Consolas"/>
              </a:rPr>
              <a:t>build check</a:t>
            </a:r>
            <a:r>
              <a:rPr sz="1250" b="0" i="0">
                <a:solidFill>
                  <a:srgbClr val="36414A"/>
                </a:solidFill>
                <a:latin typeface="Calibri"/>
              </a:rPr>
              <a:t>  —  compile the Rust port</a:t>
            </a:r>
          </a:p>
          <a:p>
            <a:pPr marL="256032" indent="-256032">
              <a:spcAft>
                <a:spcPts val="600"/>
              </a:spcAft>
              <a:buFont typeface="Calibri"/>
              <a:buChar char="–"/>
            </a:pPr>
            <a:r>
              <a:rPr sz="1250" b="1" i="0">
                <a:solidFill>
                  <a:srgbClr val="1F2328"/>
                </a:solidFill>
                <a:latin typeface="Consolas"/>
              </a:rPr>
              <a:t>env check</a:t>
            </a:r>
            <a:r>
              <a:rPr sz="1250" b="0" i="0">
                <a:solidFill>
                  <a:srgbClr val="36414A"/>
                </a:solidFill>
                <a:latin typeface="Calibri"/>
              </a:rPr>
              <a:t>  —  verify testbed readiness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2286000"/>
            <a:ext cx="1188720" cy="82296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50" b="1">
                <a:solidFill>
                  <a:srgbClr val="1F2328"/>
                </a:solidFill>
                <a:latin typeface="Consolas"/>
              </a:rPr>
              <a:t>analyze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2286000"/>
            <a:ext cx="192024" cy="8229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20824" y="2286000"/>
            <a:ext cx="1188720" cy="82296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50" b="1">
                <a:solidFill>
                  <a:srgbClr val="1F2328"/>
                </a:solidFill>
                <a:latin typeface="Consolas"/>
              </a:rPr>
              <a:t>scope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9544" y="2286000"/>
            <a:ext cx="192024" cy="8229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01568" y="2286000"/>
            <a:ext cx="1188720" cy="82296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50" b="1">
                <a:solidFill>
                  <a:srgbClr val="1F2328"/>
                </a:solidFill>
                <a:latin typeface="Consolas"/>
              </a:rPr>
              <a:t>plan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0288" y="2286000"/>
            <a:ext cx="192024" cy="8229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82312" y="2286000"/>
            <a:ext cx="1188720" cy="82296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50" b="1">
                <a:solidFill>
                  <a:srgbClr val="1F2328"/>
                </a:solidFill>
                <a:latin typeface="Consolas"/>
              </a:rPr>
              <a:t>select_</a:t>
            </a:r>
          </a:p>
          <a:p>
            <a:pPr algn="ctr"/>
            <a:r>
              <a:rPr sz="1050" b="1">
                <a:solidFill>
                  <a:srgbClr val="1F2328"/>
                </a:solidFill>
                <a:latin typeface="Consolas"/>
              </a:rPr>
              <a:t>milestone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71031" y="2286000"/>
            <a:ext cx="192024" cy="8229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63055" y="2286000"/>
            <a:ext cx="1188720" cy="82296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50" b="1">
                <a:solidFill>
                  <a:srgbClr val="1F2328"/>
                </a:solidFill>
                <a:latin typeface="Consolas"/>
              </a:rPr>
              <a:t>translate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51775" y="2286000"/>
            <a:ext cx="192024" cy="8229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32520" y="2286000"/>
            <a:ext cx="192024" cy="8229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24544" y="2286000"/>
            <a:ext cx="1188720" cy="82296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50" b="1">
                <a:solidFill>
                  <a:srgbClr val="1F2328"/>
                </a:solidFill>
                <a:latin typeface="Consolas"/>
              </a:rPr>
              <a:t>parity_</a:t>
            </a:r>
          </a:p>
          <a:p>
            <a:pPr algn="ctr"/>
            <a:r>
              <a:rPr sz="1050" b="1">
                <a:solidFill>
                  <a:srgbClr val="1F2328"/>
                </a:solidFill>
                <a:latin typeface="Consolas"/>
              </a:rPr>
              <a:t>verify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13264" y="2286000"/>
            <a:ext cx="192024" cy="8229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305288" y="2286000"/>
            <a:ext cx="1188720" cy="822960"/>
          </a:xfrm>
          <a:prstGeom prst="rect">
            <a:avLst/>
          </a:prstGeom>
          <a:solidFill>
            <a:srgbClr val="1F2328"/>
          </a:solidFill>
          <a:ln w="9525">
            <a:solidFill>
              <a:srgbClr val="1F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onsolas"/>
              </a:rPr>
              <a:t>terminal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138160" y="3108960"/>
            <a:ext cx="0" cy="164592"/>
          </a:xfrm>
          <a:prstGeom prst="line">
            <a:avLst/>
          </a:prstGeom>
          <a:ln w="15875">
            <a:solidFill>
              <a:srgbClr val="6B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5376672" y="3273552"/>
            <a:ext cx="2761488" cy="0"/>
          </a:xfrm>
          <a:prstGeom prst="line">
            <a:avLst/>
          </a:prstGeom>
          <a:ln w="15875">
            <a:solidFill>
              <a:srgbClr val="6B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5376672" y="3108960"/>
            <a:ext cx="0" cy="164592"/>
          </a:xfrm>
          <a:prstGeom prst="line">
            <a:avLst/>
          </a:prstGeom>
          <a:ln w="15875">
            <a:solidFill>
              <a:srgbClr val="6B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376672" y="2962656"/>
            <a:ext cx="2761487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50" i="1">
                <a:solidFill>
                  <a:srgbClr val="6B7480"/>
                </a:solidFill>
                <a:latin typeface="Calibri"/>
              </a:rPr>
              <a:t>repair · next milestone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518904" y="3108960"/>
            <a:ext cx="0" cy="502920"/>
          </a:xfrm>
          <a:prstGeom prst="line">
            <a:avLst/>
          </a:prstGeom>
          <a:ln w="15875">
            <a:solidFill>
              <a:srgbClr val="6B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2615184" y="3611880"/>
            <a:ext cx="6903720" cy="0"/>
          </a:xfrm>
          <a:prstGeom prst="line">
            <a:avLst/>
          </a:prstGeom>
          <a:ln w="15875">
            <a:solidFill>
              <a:srgbClr val="6B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2615184" y="3108960"/>
            <a:ext cx="0" cy="502920"/>
          </a:xfrm>
          <a:prstGeom prst="line">
            <a:avLst/>
          </a:prstGeom>
          <a:ln w="15875">
            <a:solidFill>
              <a:srgbClr val="6B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615184" y="3383280"/>
            <a:ext cx="69037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50" i="1">
                <a:solidFill>
                  <a:srgbClr val="6B7480"/>
                </a:solidFill>
                <a:latin typeface="Calibri"/>
              </a:rPr>
              <a:t>parity gaps → new milestones   ·   all green → terminal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796514-1B09-39A1-B350-083925DF4AB5}"/>
              </a:ext>
            </a:extLst>
          </p:cNvPr>
          <p:cNvSpPr/>
          <p:nvPr/>
        </p:nvSpPr>
        <p:spPr>
          <a:xfrm>
            <a:off x="7534656" y="2308860"/>
            <a:ext cx="1188720" cy="82296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lang="en-US" sz="1050" b="1" dirty="0">
                <a:solidFill>
                  <a:srgbClr val="1F2328"/>
                </a:solidFill>
                <a:latin typeface="Consolas"/>
              </a:rPr>
              <a:t>validate</a:t>
            </a:r>
            <a:endParaRPr sz="1050" b="1" dirty="0">
              <a:solidFill>
                <a:srgbClr val="1F2328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4DCD53-6C03-AFBA-7B4D-6F8E320B3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1F2328"/>
                </a:solidFill>
                <a:latin typeface="Georgia"/>
              </a:rPr>
              <a:t>analyze — research &amp; target design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554480"/>
            <a:ext cx="10908792" cy="0"/>
          </a:xfrm>
          <a:prstGeom prst="line">
            <a:avLst/>
          </a:prstGeom>
          <a:ln w="12700">
            <a:solidFill>
              <a:srgbClr val="C9CD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1828800"/>
            <a:ext cx="1188720" cy="777240"/>
          </a:xfrm>
          <a:prstGeom prst="rect">
            <a:avLst/>
          </a:prstGeom>
          <a:solidFill>
            <a:srgbClr val="3B7A57"/>
          </a:solidFill>
          <a:ln w="9525">
            <a:solidFill>
              <a:srgbClr val="3B7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analyze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19202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2020824" y="1828800"/>
            <a:ext cx="118872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9544" y="1828800"/>
            <a:ext cx="19202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401568" y="1828800"/>
            <a:ext cx="118872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0288" y="1828800"/>
            <a:ext cx="19202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82312" y="1828800"/>
            <a:ext cx="118872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select_</a:t>
            </a:r>
          </a:p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milestone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71031" y="1828800"/>
            <a:ext cx="19202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63055" y="1828800"/>
            <a:ext cx="118872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translate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51775" y="1828800"/>
            <a:ext cx="19202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43800" y="1828800"/>
            <a:ext cx="118872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validate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1828800"/>
            <a:ext cx="19202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24544" y="1828800"/>
            <a:ext cx="118872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parity_</a:t>
            </a:r>
          </a:p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verify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264" y="1828800"/>
            <a:ext cx="19202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305288" y="1828800"/>
            <a:ext cx="118872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terminal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138160" y="2606040"/>
            <a:ext cx="0" cy="164592"/>
          </a:xfrm>
          <a:prstGeom prst="line">
            <a:avLst/>
          </a:prstGeom>
          <a:ln w="13970">
            <a:solidFill>
              <a:srgbClr val="6B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5376672" y="2770632"/>
            <a:ext cx="2761488" cy="0"/>
          </a:xfrm>
          <a:prstGeom prst="line">
            <a:avLst/>
          </a:prstGeom>
          <a:ln w="13970">
            <a:solidFill>
              <a:srgbClr val="6B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5376672" y="2606040"/>
            <a:ext cx="0" cy="164592"/>
          </a:xfrm>
          <a:prstGeom prst="line">
            <a:avLst/>
          </a:prstGeom>
          <a:ln w="13970">
            <a:solidFill>
              <a:srgbClr val="6B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518904" y="2606040"/>
            <a:ext cx="0" cy="411480"/>
          </a:xfrm>
          <a:prstGeom prst="line">
            <a:avLst/>
          </a:prstGeom>
          <a:ln w="13970">
            <a:solidFill>
              <a:srgbClr val="6B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2615184" y="3017520"/>
            <a:ext cx="6903720" cy="0"/>
          </a:xfrm>
          <a:prstGeom prst="line">
            <a:avLst/>
          </a:prstGeom>
          <a:ln w="13970">
            <a:solidFill>
              <a:srgbClr val="6B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615184" y="2606040"/>
            <a:ext cx="0" cy="411480"/>
          </a:xfrm>
          <a:prstGeom prst="line">
            <a:avLst/>
          </a:prstGeom>
          <a:ln w="13970">
            <a:solidFill>
              <a:srgbClr val="6B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376672" y="2624328"/>
            <a:ext cx="276148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>
                <a:solidFill>
                  <a:srgbClr val="6B7480"/>
                </a:solidFill>
                <a:latin typeface="Calibri"/>
              </a:rPr>
              <a:t>repair · next milestone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15184" y="3063240"/>
            <a:ext cx="6903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>
                <a:solidFill>
                  <a:srgbClr val="6B7480"/>
                </a:solidFill>
                <a:latin typeface="Calibri"/>
              </a:rPr>
              <a:t>parity gaps → new milestones · all green → terminal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429000"/>
            <a:ext cx="5349240" cy="246888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3593592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6B7480"/>
                </a:solidFill>
                <a:latin typeface="Calibri"/>
              </a:rPr>
              <a:t>Agent · </a:t>
            </a:r>
            <a:r>
              <a:rPr sz="1500" b="1" i="0">
                <a:solidFill>
                  <a:srgbClr val="1F2328"/>
                </a:solidFill>
                <a:latin typeface="Consolas"/>
              </a:rPr>
              <a:t>analyzer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8680" y="3995928"/>
            <a:ext cx="4892040" cy="0"/>
          </a:xfrm>
          <a:prstGeom prst="line">
            <a:avLst/>
          </a:prstGeom>
          <a:ln w="12700">
            <a:solidFill>
              <a:srgbClr val="C9CD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86968" y="4142232"/>
            <a:ext cx="493776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900"/>
              </a:spcAft>
              <a:buFont typeface="Calibri"/>
              <a:buChar char="–"/>
            </a:pPr>
            <a:r>
              <a:rPr sz="1350">
                <a:solidFill>
                  <a:srgbClr val="36414A"/>
                </a:solidFill>
                <a:latin typeface="Calibri"/>
              </a:rPr>
              <a:t>Researches the Python xcvrd source; maps dependencies to idiomatic Rust on the PyO3 HAL + swss-common.</a:t>
            </a:r>
          </a:p>
          <a:p>
            <a:pPr marL="219456" indent="-219456">
              <a:spcAft>
                <a:spcPts val="900"/>
              </a:spcAft>
              <a:buFont typeface="Calibri"/>
              <a:buChar char="–"/>
            </a:pPr>
            <a:r>
              <a:rPr sz="1350">
                <a:solidFill>
                  <a:srgbClr val="36414A"/>
                </a:solidFill>
                <a:latin typeface="Calibri"/>
              </a:rPr>
              <a:t>Produces the authoritative target design — writes design docs only, no Rust.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9632" y="3429000"/>
            <a:ext cx="5349240" cy="246888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28232" y="3593592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2328"/>
                </a:solidFill>
                <a:latin typeface="Calibri"/>
              </a:rPr>
              <a:t>Input → Output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428232" y="3995928"/>
            <a:ext cx="4892040" cy="0"/>
          </a:xfrm>
          <a:prstGeom prst="line">
            <a:avLst/>
          </a:prstGeom>
          <a:ln w="12700">
            <a:solidFill>
              <a:srgbClr val="C9CD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446520" y="4160520"/>
            <a:ext cx="5029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3B7A57"/>
                </a:solidFill>
                <a:latin typeface="Calibri"/>
              </a:rPr>
              <a:t>IN   </a:t>
            </a:r>
            <a:r>
              <a:rPr sz="1300" b="0" i="0">
                <a:solidFill>
                  <a:srgbClr val="36414A"/>
                </a:solidFill>
                <a:latin typeface="Calibri"/>
              </a:rPr>
              <a:t>Python xcvrd source · behavioral tests + mocks · emulator HAL · immutable crate · xcvrd-tests oracle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5029200"/>
            <a:ext cx="5029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328"/>
                </a:solidFill>
                <a:latin typeface="Calibri"/>
              </a:rPr>
              <a:t>OUT   </a:t>
            </a:r>
            <a:r>
              <a:rPr sz="1200" b="0" i="0">
                <a:solidFill>
                  <a:srgbClr val="36414A"/>
                </a:solidFill>
                <a:latin typeface="Consolas"/>
              </a:rPr>
              <a:t>pipeline/analysis.md — target design, module inventory, STATE_DB contract</a:t>
            </a:r>
          </a:p>
        </p:txBody>
      </p:sp>
    </p:spTree>
    <p:extLst>
      <p:ext uri="{BB962C8B-B14F-4D97-AF65-F5344CB8AC3E}">
        <p14:creationId xmlns:p14="http://schemas.microsoft.com/office/powerpoint/2010/main" val="33870264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D065F4-C0FA-3D8D-FAA5-D64AFB110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1F2328"/>
                </a:solidFill>
                <a:latin typeface="Georgia"/>
              </a:rPr>
              <a:t>scope — derive the milestone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554480"/>
            <a:ext cx="10908792" cy="0"/>
          </a:xfrm>
          <a:prstGeom prst="line">
            <a:avLst/>
          </a:prstGeom>
          <a:ln w="12700">
            <a:solidFill>
              <a:srgbClr val="C9CD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1828800"/>
            <a:ext cx="118872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analyze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19202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2020824" y="1828800"/>
            <a:ext cx="1188720" cy="777240"/>
          </a:xfrm>
          <a:prstGeom prst="rect">
            <a:avLst/>
          </a:prstGeom>
          <a:solidFill>
            <a:srgbClr val="3B7A57"/>
          </a:solidFill>
          <a:ln w="9525">
            <a:solidFill>
              <a:srgbClr val="3B7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9544" y="1828800"/>
            <a:ext cx="19202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401568" y="1828800"/>
            <a:ext cx="118872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0288" y="1828800"/>
            <a:ext cx="19202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82312" y="1828800"/>
            <a:ext cx="118872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select_</a:t>
            </a:r>
          </a:p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milestone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71031" y="1828800"/>
            <a:ext cx="19202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63055" y="1828800"/>
            <a:ext cx="118872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translate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51775" y="1828800"/>
            <a:ext cx="19202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43800" y="1828800"/>
            <a:ext cx="118872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validate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1828800"/>
            <a:ext cx="19202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24544" y="1828800"/>
            <a:ext cx="118872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parity_</a:t>
            </a:r>
          </a:p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verify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264" y="1828800"/>
            <a:ext cx="19202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305288" y="1828800"/>
            <a:ext cx="118872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terminal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138160" y="2606040"/>
            <a:ext cx="0" cy="164592"/>
          </a:xfrm>
          <a:prstGeom prst="line">
            <a:avLst/>
          </a:prstGeom>
          <a:ln w="13970">
            <a:solidFill>
              <a:srgbClr val="6B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5376672" y="2770632"/>
            <a:ext cx="2761488" cy="0"/>
          </a:xfrm>
          <a:prstGeom prst="line">
            <a:avLst/>
          </a:prstGeom>
          <a:ln w="13970">
            <a:solidFill>
              <a:srgbClr val="6B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5376672" y="2606040"/>
            <a:ext cx="0" cy="164592"/>
          </a:xfrm>
          <a:prstGeom prst="line">
            <a:avLst/>
          </a:prstGeom>
          <a:ln w="13970">
            <a:solidFill>
              <a:srgbClr val="6B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518904" y="2606040"/>
            <a:ext cx="0" cy="411480"/>
          </a:xfrm>
          <a:prstGeom prst="line">
            <a:avLst/>
          </a:prstGeom>
          <a:ln w="13970">
            <a:solidFill>
              <a:srgbClr val="6B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2615184" y="3017520"/>
            <a:ext cx="6903720" cy="0"/>
          </a:xfrm>
          <a:prstGeom prst="line">
            <a:avLst/>
          </a:prstGeom>
          <a:ln w="13970">
            <a:solidFill>
              <a:srgbClr val="6B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615184" y="2606040"/>
            <a:ext cx="0" cy="411480"/>
          </a:xfrm>
          <a:prstGeom prst="line">
            <a:avLst/>
          </a:prstGeom>
          <a:ln w="13970">
            <a:solidFill>
              <a:srgbClr val="6B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376672" y="2624328"/>
            <a:ext cx="276148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>
                <a:solidFill>
                  <a:srgbClr val="6B7480"/>
                </a:solidFill>
                <a:latin typeface="Calibri"/>
              </a:rPr>
              <a:t>repair · next milestone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15184" y="3063240"/>
            <a:ext cx="6903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>
                <a:solidFill>
                  <a:srgbClr val="6B7480"/>
                </a:solidFill>
                <a:latin typeface="Calibri"/>
              </a:rPr>
              <a:t>parity gaps → new milestones · all green → terminal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429000"/>
            <a:ext cx="5349240" cy="246888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3593592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6B7480"/>
                </a:solidFill>
                <a:latin typeface="Calibri"/>
              </a:rPr>
              <a:t>Agent · </a:t>
            </a:r>
            <a:r>
              <a:rPr sz="1500" b="1" i="0">
                <a:solidFill>
                  <a:srgbClr val="1F2328"/>
                </a:solidFill>
                <a:latin typeface="Consolas"/>
              </a:rPr>
              <a:t>scoper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8680" y="3995928"/>
            <a:ext cx="4892040" cy="0"/>
          </a:xfrm>
          <a:prstGeom prst="line">
            <a:avLst/>
          </a:prstGeom>
          <a:ln w="12700">
            <a:solidFill>
              <a:srgbClr val="C9CD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86968" y="4142232"/>
            <a:ext cx="493776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900"/>
              </a:spcAft>
              <a:buFont typeface="Calibri"/>
              <a:buChar char="–"/>
            </a:pPr>
            <a:r>
              <a:rPr sz="1350">
                <a:solidFill>
                  <a:srgbClr val="36414A"/>
                </a:solidFill>
                <a:latin typeface="Calibri"/>
              </a:rPr>
              <a:t>Derives the dependency-ordered milestone set mechanically from the design + the e2e suite.</a:t>
            </a:r>
          </a:p>
          <a:p>
            <a:pPr marL="219456" indent="-219456">
              <a:spcAft>
                <a:spcPts val="900"/>
              </a:spcAft>
              <a:buFont typeface="Calibri"/>
              <a:buChar char="–"/>
            </a:pPr>
            <a:r>
              <a:rPr sz="1350">
                <a:solidFill>
                  <a:srgbClr val="36414A"/>
                </a:solidFill>
                <a:latin typeface="Calibri"/>
              </a:rPr>
              <a:t>Partitions every xcvrd-tests module across milestones; on parity feedback, appends unit-only milestones.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9632" y="3429000"/>
            <a:ext cx="5349240" cy="246888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28232" y="3593592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2328"/>
                </a:solidFill>
                <a:latin typeface="Calibri"/>
              </a:rPr>
              <a:t>Input → Output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428232" y="3995928"/>
            <a:ext cx="4892040" cy="0"/>
          </a:xfrm>
          <a:prstGeom prst="line">
            <a:avLst/>
          </a:prstGeom>
          <a:ln w="12700">
            <a:solidFill>
              <a:srgbClr val="C9CD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446520" y="4160520"/>
            <a:ext cx="5029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3B7A57"/>
                </a:solidFill>
                <a:latin typeface="Calibri"/>
              </a:rPr>
              <a:t>IN   </a:t>
            </a:r>
            <a:r>
              <a:rPr sz="1300" b="0" i="0">
                <a:solidFill>
                  <a:srgbClr val="36414A"/>
                </a:solidFill>
                <a:latin typeface="Calibri"/>
              </a:rPr>
              <a:t>pipeline/analysis.md · source · xcvrd-tests suite · parity_report.json (on re-scope)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5029200"/>
            <a:ext cx="5029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328"/>
                </a:solidFill>
                <a:latin typeface="Calibri"/>
              </a:rPr>
              <a:t>OUT   </a:t>
            </a:r>
            <a:r>
              <a:rPr sz="1200" b="0" i="0">
                <a:solidFill>
                  <a:srgbClr val="36414A"/>
                </a:solidFill>
                <a:latin typeface="Consolas"/>
              </a:rPr>
              <a:t>pipeline/milestones.json — the dependency-ordered milestone set</a:t>
            </a:r>
          </a:p>
        </p:txBody>
      </p:sp>
    </p:spTree>
    <p:extLst>
      <p:ext uri="{BB962C8B-B14F-4D97-AF65-F5344CB8AC3E}">
        <p14:creationId xmlns:p14="http://schemas.microsoft.com/office/powerpoint/2010/main" val="3597661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097C00-1A74-8761-D252-4B385064F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1F2328"/>
                </a:solidFill>
                <a:latin typeface="Georgia"/>
              </a:rPr>
              <a:t>plan — skeleton &amp; executable plan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554480"/>
            <a:ext cx="10908792" cy="0"/>
          </a:xfrm>
          <a:prstGeom prst="line">
            <a:avLst/>
          </a:prstGeom>
          <a:ln w="12700">
            <a:solidFill>
              <a:srgbClr val="C9CD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1828800"/>
            <a:ext cx="118872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analyze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19202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2020824" y="1828800"/>
            <a:ext cx="118872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9544" y="1828800"/>
            <a:ext cx="19202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401568" y="1828800"/>
            <a:ext cx="1188720" cy="777240"/>
          </a:xfrm>
          <a:prstGeom prst="rect">
            <a:avLst/>
          </a:prstGeom>
          <a:solidFill>
            <a:srgbClr val="3B7A57"/>
          </a:solidFill>
          <a:ln w="9525">
            <a:solidFill>
              <a:srgbClr val="3B7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0288" y="1828800"/>
            <a:ext cx="19202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82312" y="1828800"/>
            <a:ext cx="118872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select_</a:t>
            </a:r>
          </a:p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milestone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71031" y="1828800"/>
            <a:ext cx="19202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63055" y="1828800"/>
            <a:ext cx="118872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translate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51775" y="1828800"/>
            <a:ext cx="19202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43800" y="1828800"/>
            <a:ext cx="118872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validate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1828800"/>
            <a:ext cx="19202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24544" y="1828800"/>
            <a:ext cx="118872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parity_</a:t>
            </a:r>
          </a:p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verify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264" y="1828800"/>
            <a:ext cx="19202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305288" y="1828800"/>
            <a:ext cx="118872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terminal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138160" y="2606040"/>
            <a:ext cx="0" cy="164592"/>
          </a:xfrm>
          <a:prstGeom prst="line">
            <a:avLst/>
          </a:prstGeom>
          <a:ln w="13970">
            <a:solidFill>
              <a:srgbClr val="6B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5376672" y="2770632"/>
            <a:ext cx="2761488" cy="0"/>
          </a:xfrm>
          <a:prstGeom prst="line">
            <a:avLst/>
          </a:prstGeom>
          <a:ln w="13970">
            <a:solidFill>
              <a:srgbClr val="6B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5376672" y="2606040"/>
            <a:ext cx="0" cy="164592"/>
          </a:xfrm>
          <a:prstGeom prst="line">
            <a:avLst/>
          </a:prstGeom>
          <a:ln w="13970">
            <a:solidFill>
              <a:srgbClr val="6B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518904" y="2606040"/>
            <a:ext cx="0" cy="411480"/>
          </a:xfrm>
          <a:prstGeom prst="line">
            <a:avLst/>
          </a:prstGeom>
          <a:ln w="13970">
            <a:solidFill>
              <a:srgbClr val="6B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2615184" y="3017520"/>
            <a:ext cx="6903720" cy="0"/>
          </a:xfrm>
          <a:prstGeom prst="line">
            <a:avLst/>
          </a:prstGeom>
          <a:ln w="13970">
            <a:solidFill>
              <a:srgbClr val="6B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615184" y="2606040"/>
            <a:ext cx="0" cy="411480"/>
          </a:xfrm>
          <a:prstGeom prst="line">
            <a:avLst/>
          </a:prstGeom>
          <a:ln w="13970">
            <a:solidFill>
              <a:srgbClr val="6B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376672" y="2624328"/>
            <a:ext cx="276148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>
                <a:solidFill>
                  <a:srgbClr val="6B7480"/>
                </a:solidFill>
                <a:latin typeface="Calibri"/>
              </a:rPr>
              <a:t>repair · next milestone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15184" y="3063240"/>
            <a:ext cx="6903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>
                <a:solidFill>
                  <a:srgbClr val="6B7480"/>
                </a:solidFill>
                <a:latin typeface="Calibri"/>
              </a:rPr>
              <a:t>parity gaps → new milestones · all green → terminal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429000"/>
            <a:ext cx="5349240" cy="246888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3593592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6B7480"/>
                </a:solidFill>
                <a:latin typeface="Calibri"/>
              </a:rPr>
              <a:t>Agent · </a:t>
            </a:r>
            <a:r>
              <a:rPr sz="1500" b="1" i="0">
                <a:solidFill>
                  <a:srgbClr val="1F2328"/>
                </a:solidFill>
                <a:latin typeface="Consolas"/>
              </a:rPr>
              <a:t>planner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8680" y="3995928"/>
            <a:ext cx="4892040" cy="0"/>
          </a:xfrm>
          <a:prstGeom prst="line">
            <a:avLst/>
          </a:prstGeom>
          <a:ln w="12700">
            <a:solidFill>
              <a:srgbClr val="C9CD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86968" y="4142232"/>
            <a:ext cx="493776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900"/>
              </a:spcAft>
              <a:buFont typeface="Calibri"/>
              <a:buChar char="–"/>
            </a:pPr>
            <a:r>
              <a:rPr sz="1350">
                <a:solidFill>
                  <a:srgbClr val="36414A"/>
                </a:solidFill>
                <a:latin typeface="Calibri"/>
              </a:rPr>
              <a:t>Copies the immutable crate to the working copy; extracts translation units (daemon + tests); builds a 1:1 name mapping.</a:t>
            </a:r>
          </a:p>
          <a:p>
            <a:pPr marL="219456" indent="-219456">
              <a:spcAft>
                <a:spcPts val="900"/>
              </a:spcAft>
              <a:buFont typeface="Calibri"/>
              <a:buChar char="–"/>
            </a:pPr>
            <a:r>
              <a:rPr sz="1350">
                <a:solidFill>
                  <a:srgbClr val="36414A"/>
                </a:solidFill>
                <a:latin typeface="Calibri"/>
              </a:rPr>
              <a:t>Generates a compilable skeleton with mock/test seams — structure &amp; stubs, not logic.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9632" y="3429000"/>
            <a:ext cx="5349240" cy="246888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28232" y="3593592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2328"/>
                </a:solidFill>
                <a:latin typeface="Calibri"/>
              </a:rPr>
              <a:t>Input → Output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428232" y="3995928"/>
            <a:ext cx="4892040" cy="0"/>
          </a:xfrm>
          <a:prstGeom prst="line">
            <a:avLst/>
          </a:prstGeom>
          <a:ln w="12700">
            <a:solidFill>
              <a:srgbClr val="C9CD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446520" y="4160520"/>
            <a:ext cx="5029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3B7A57"/>
                </a:solidFill>
                <a:latin typeface="Calibri"/>
              </a:rPr>
              <a:t>IN   </a:t>
            </a:r>
            <a:r>
              <a:rPr sz="1300" b="0" i="0">
                <a:solidFill>
                  <a:srgbClr val="36414A"/>
                </a:solidFill>
                <a:latin typeface="Calibri"/>
              </a:rPr>
              <a:t>analysis.md · source + tests · immutable crate · M0–M6 matrix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5029200"/>
            <a:ext cx="5029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328"/>
                </a:solidFill>
                <a:latin typeface="Calibri"/>
              </a:rPr>
              <a:t>OUT   </a:t>
            </a:r>
            <a:r>
              <a:rPr sz="1200" b="0" i="0">
                <a:solidFill>
                  <a:srgbClr val="36414A"/>
                </a:solidFill>
                <a:latin typeface="Consolas"/>
              </a:rPr>
              <a:t>pipeline/crate (skeleton) + pipeline/plan.json</a:t>
            </a:r>
          </a:p>
        </p:txBody>
      </p:sp>
    </p:spTree>
    <p:extLst>
      <p:ext uri="{BB962C8B-B14F-4D97-AF65-F5344CB8AC3E}">
        <p14:creationId xmlns:p14="http://schemas.microsoft.com/office/powerpoint/2010/main" val="16384544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1F2328"/>
                </a:solidFill>
                <a:latin typeface="Georgia"/>
              </a:rPr>
              <a:t>select_milestone — pick the next slice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554480"/>
            <a:ext cx="10908792" cy="0"/>
          </a:xfrm>
          <a:prstGeom prst="line">
            <a:avLst/>
          </a:prstGeom>
          <a:ln w="12700">
            <a:solidFill>
              <a:srgbClr val="C9CD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1828800"/>
            <a:ext cx="118872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analyze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19202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2020824" y="1828800"/>
            <a:ext cx="118872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9544" y="1828800"/>
            <a:ext cx="19202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401568" y="1828800"/>
            <a:ext cx="118872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0288" y="1828800"/>
            <a:ext cx="19202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82312" y="1828800"/>
            <a:ext cx="1188720" cy="777240"/>
          </a:xfrm>
          <a:prstGeom prst="rect">
            <a:avLst/>
          </a:prstGeom>
          <a:solidFill>
            <a:srgbClr val="3B7A57"/>
          </a:solidFill>
          <a:ln w="9525">
            <a:solidFill>
              <a:srgbClr val="3B7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select_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milestone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71031" y="1828800"/>
            <a:ext cx="19202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63055" y="1828800"/>
            <a:ext cx="118872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translate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51775" y="1828800"/>
            <a:ext cx="19202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43800" y="1828800"/>
            <a:ext cx="118872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validate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1828800"/>
            <a:ext cx="19202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24544" y="1828800"/>
            <a:ext cx="118872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parity_</a:t>
            </a:r>
          </a:p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verify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264" y="1828800"/>
            <a:ext cx="19202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305288" y="1828800"/>
            <a:ext cx="118872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terminal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138160" y="2606040"/>
            <a:ext cx="0" cy="164592"/>
          </a:xfrm>
          <a:prstGeom prst="line">
            <a:avLst/>
          </a:prstGeom>
          <a:ln w="13970">
            <a:solidFill>
              <a:srgbClr val="6B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5376672" y="2770632"/>
            <a:ext cx="2761488" cy="0"/>
          </a:xfrm>
          <a:prstGeom prst="line">
            <a:avLst/>
          </a:prstGeom>
          <a:ln w="13970">
            <a:solidFill>
              <a:srgbClr val="6B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5376672" y="2606040"/>
            <a:ext cx="0" cy="164592"/>
          </a:xfrm>
          <a:prstGeom prst="line">
            <a:avLst/>
          </a:prstGeom>
          <a:ln w="13970">
            <a:solidFill>
              <a:srgbClr val="6B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518904" y="2606040"/>
            <a:ext cx="0" cy="411480"/>
          </a:xfrm>
          <a:prstGeom prst="line">
            <a:avLst/>
          </a:prstGeom>
          <a:ln w="13970">
            <a:solidFill>
              <a:srgbClr val="6B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2615184" y="3017520"/>
            <a:ext cx="6903720" cy="0"/>
          </a:xfrm>
          <a:prstGeom prst="line">
            <a:avLst/>
          </a:prstGeom>
          <a:ln w="13970">
            <a:solidFill>
              <a:srgbClr val="6B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615184" y="2606040"/>
            <a:ext cx="0" cy="411480"/>
          </a:xfrm>
          <a:prstGeom prst="line">
            <a:avLst/>
          </a:prstGeom>
          <a:ln w="13970">
            <a:solidFill>
              <a:srgbClr val="6B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376672" y="2624328"/>
            <a:ext cx="276148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>
                <a:solidFill>
                  <a:srgbClr val="6B7480"/>
                </a:solidFill>
                <a:latin typeface="Calibri"/>
              </a:rPr>
              <a:t>repair · next milestone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15184" y="3063240"/>
            <a:ext cx="6903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>
                <a:solidFill>
                  <a:srgbClr val="6B7480"/>
                </a:solidFill>
                <a:latin typeface="Calibri"/>
              </a:rPr>
              <a:t>parity gaps → new milestones · all green → terminal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429000"/>
            <a:ext cx="5349240" cy="246888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3593592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6B7480"/>
                </a:solidFill>
                <a:latin typeface="Calibri"/>
              </a:rPr>
              <a:t>Step · </a:t>
            </a:r>
            <a:r>
              <a:rPr sz="1500" b="1" i="0">
                <a:solidFill>
                  <a:srgbClr val="1F2328"/>
                </a:solidFill>
                <a:latin typeface="Consolas"/>
              </a:rPr>
              <a:t>orchestrator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8680" y="3995928"/>
            <a:ext cx="4892040" cy="0"/>
          </a:xfrm>
          <a:prstGeom prst="line">
            <a:avLst/>
          </a:prstGeom>
          <a:ln w="12700">
            <a:solidFill>
              <a:srgbClr val="C9CD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86968" y="4142232"/>
            <a:ext cx="493776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900"/>
              </a:spcAft>
              <a:buFont typeface="Calibri"/>
              <a:buChar char="–"/>
            </a:pPr>
            <a:r>
              <a:rPr sz="1350">
                <a:solidFill>
                  <a:srgbClr val="36414A"/>
                </a:solidFill>
                <a:latin typeface="Calibri"/>
              </a:rPr>
              <a:t>Deterministically picks the next milestone in dependency order and names it + mode (IMPLEMENT / REPAIR).</a:t>
            </a:r>
          </a:p>
          <a:p>
            <a:pPr marL="219456" indent="-219456">
              <a:spcAft>
                <a:spcPts val="900"/>
              </a:spcAft>
              <a:buFont typeface="Calibri"/>
              <a:buChar char="–"/>
            </a:pPr>
            <a:r>
              <a:rPr sz="1350">
                <a:solidFill>
                  <a:srgbClr val="36414A"/>
                </a:solidFill>
                <a:latin typeface="Calibri"/>
              </a:rPr>
              <a:t>When every milestone has passed, routes to parity_verify.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9632" y="3429000"/>
            <a:ext cx="5349240" cy="246888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28232" y="3593592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2328"/>
                </a:solidFill>
                <a:latin typeface="Calibri"/>
              </a:rPr>
              <a:t>Input → Output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428232" y="3995928"/>
            <a:ext cx="4892040" cy="0"/>
          </a:xfrm>
          <a:prstGeom prst="line">
            <a:avLst/>
          </a:prstGeom>
          <a:ln w="12700">
            <a:solidFill>
              <a:srgbClr val="C9CD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446520" y="4160520"/>
            <a:ext cx="5029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3B7A57"/>
                </a:solidFill>
                <a:latin typeface="Calibri"/>
              </a:rPr>
              <a:t>IN   </a:t>
            </a:r>
            <a:r>
              <a:rPr sz="1300" b="0" i="0">
                <a:solidFill>
                  <a:srgbClr val="36414A"/>
                </a:solidFill>
                <a:latin typeface="Calibri"/>
              </a:rPr>
              <a:t>pipeline/milestones.json · progress + last report.json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5029200"/>
            <a:ext cx="5029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328"/>
                </a:solidFill>
                <a:latin typeface="Calibri"/>
              </a:rPr>
              <a:t>OUT   </a:t>
            </a:r>
            <a:r>
              <a:rPr sz="1200" b="0" i="0">
                <a:solidFill>
                  <a:srgbClr val="36414A"/>
                </a:solidFill>
                <a:latin typeface="Consolas"/>
              </a:rPr>
              <a:t>current milestone + mode → translate</a:t>
            </a:r>
          </a:p>
        </p:txBody>
      </p:sp>
    </p:spTree>
    <p:extLst>
      <p:ext uri="{BB962C8B-B14F-4D97-AF65-F5344CB8AC3E}">
        <p14:creationId xmlns:p14="http://schemas.microsoft.com/office/powerpoint/2010/main" val="6378659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1F2328"/>
                </a:solidFill>
                <a:latin typeface="Georgia"/>
              </a:rPr>
              <a:t>translate — implement the milestone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554480"/>
            <a:ext cx="10908792" cy="0"/>
          </a:xfrm>
          <a:prstGeom prst="line">
            <a:avLst/>
          </a:prstGeom>
          <a:ln w="12700">
            <a:solidFill>
              <a:srgbClr val="C9CD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1828800"/>
            <a:ext cx="118872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analyze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19202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2020824" y="1828800"/>
            <a:ext cx="118872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9544" y="1828800"/>
            <a:ext cx="19202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401568" y="1828800"/>
            <a:ext cx="118872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0288" y="1828800"/>
            <a:ext cx="19202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82312" y="1828800"/>
            <a:ext cx="118872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select_</a:t>
            </a:r>
          </a:p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milestone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71031" y="1828800"/>
            <a:ext cx="19202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63055" y="1828800"/>
            <a:ext cx="1188720" cy="777240"/>
          </a:xfrm>
          <a:prstGeom prst="rect">
            <a:avLst/>
          </a:prstGeom>
          <a:solidFill>
            <a:srgbClr val="3B7A57"/>
          </a:solidFill>
          <a:ln w="9525">
            <a:solidFill>
              <a:srgbClr val="3B7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translate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51775" y="1828800"/>
            <a:ext cx="19202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43800" y="1828800"/>
            <a:ext cx="118872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validate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1828800"/>
            <a:ext cx="19202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24544" y="1828800"/>
            <a:ext cx="118872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parity_</a:t>
            </a:r>
          </a:p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verify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264" y="1828800"/>
            <a:ext cx="19202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305288" y="1828800"/>
            <a:ext cx="118872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terminal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138160" y="2606040"/>
            <a:ext cx="0" cy="164592"/>
          </a:xfrm>
          <a:prstGeom prst="line">
            <a:avLst/>
          </a:prstGeom>
          <a:ln w="13970">
            <a:solidFill>
              <a:srgbClr val="6B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5376672" y="2770632"/>
            <a:ext cx="2761488" cy="0"/>
          </a:xfrm>
          <a:prstGeom prst="line">
            <a:avLst/>
          </a:prstGeom>
          <a:ln w="13970">
            <a:solidFill>
              <a:srgbClr val="6B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5376672" y="2606040"/>
            <a:ext cx="0" cy="164592"/>
          </a:xfrm>
          <a:prstGeom prst="line">
            <a:avLst/>
          </a:prstGeom>
          <a:ln w="13970">
            <a:solidFill>
              <a:srgbClr val="6B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518904" y="2606040"/>
            <a:ext cx="0" cy="411480"/>
          </a:xfrm>
          <a:prstGeom prst="line">
            <a:avLst/>
          </a:prstGeom>
          <a:ln w="13970">
            <a:solidFill>
              <a:srgbClr val="6B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2615184" y="3017520"/>
            <a:ext cx="6903720" cy="0"/>
          </a:xfrm>
          <a:prstGeom prst="line">
            <a:avLst/>
          </a:prstGeom>
          <a:ln w="13970">
            <a:solidFill>
              <a:srgbClr val="6B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615184" y="2606040"/>
            <a:ext cx="0" cy="411480"/>
          </a:xfrm>
          <a:prstGeom prst="line">
            <a:avLst/>
          </a:prstGeom>
          <a:ln w="13970">
            <a:solidFill>
              <a:srgbClr val="6B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376672" y="2624328"/>
            <a:ext cx="276148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>
                <a:solidFill>
                  <a:srgbClr val="6B7480"/>
                </a:solidFill>
                <a:latin typeface="Calibri"/>
              </a:rPr>
              <a:t>repair · next milestone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15184" y="3063240"/>
            <a:ext cx="6903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>
                <a:solidFill>
                  <a:srgbClr val="6B7480"/>
                </a:solidFill>
                <a:latin typeface="Calibri"/>
              </a:rPr>
              <a:t>parity gaps → new milestones · all green → terminal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429000"/>
            <a:ext cx="5349240" cy="246888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3593592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6B7480"/>
                </a:solidFill>
                <a:latin typeface="Calibri"/>
              </a:rPr>
              <a:t>Agent · </a:t>
            </a:r>
            <a:r>
              <a:rPr sz="1500" b="1" i="0">
                <a:solidFill>
                  <a:srgbClr val="1F2328"/>
                </a:solidFill>
                <a:latin typeface="Consolas"/>
              </a:rPr>
              <a:t>translator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8680" y="3995928"/>
            <a:ext cx="4892040" cy="0"/>
          </a:xfrm>
          <a:prstGeom prst="line">
            <a:avLst/>
          </a:prstGeom>
          <a:ln w="12700">
            <a:solidFill>
              <a:srgbClr val="C9CD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86968" y="4142232"/>
            <a:ext cx="493776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900"/>
              </a:spcAft>
              <a:buFont typeface="Calibri"/>
              <a:buChar char="–"/>
            </a:pPr>
            <a:r>
              <a:rPr sz="1350">
                <a:solidFill>
                  <a:srgbClr val="36414A"/>
                </a:solidFill>
                <a:latin typeface="Calibri"/>
              </a:rPr>
              <a:t>Implements one milestone at a time — daemon logic (Part A) + rewritten / added Rust unit tests (Part B) — in the working crate.</a:t>
            </a:r>
          </a:p>
          <a:p>
            <a:pPr marL="219456" indent="-219456">
              <a:spcAft>
                <a:spcPts val="900"/>
              </a:spcAft>
              <a:buFont typeface="Calibri"/>
              <a:buChar char="–"/>
            </a:pPr>
            <a:r>
              <a:rPr sz="1350">
                <a:solidFill>
                  <a:srgbClr val="36414A"/>
                </a:solidFill>
                <a:latin typeface="Calibri"/>
              </a:rPr>
              <a:t>In REPAIR mode, root-causes each Validator failure and fixes it faithfully.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9632" y="3429000"/>
            <a:ext cx="5349240" cy="246888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28232" y="3593592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2328"/>
                </a:solidFill>
                <a:latin typeface="Calibri"/>
              </a:rPr>
              <a:t>Input → Output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428232" y="3995928"/>
            <a:ext cx="4892040" cy="0"/>
          </a:xfrm>
          <a:prstGeom prst="line">
            <a:avLst/>
          </a:prstGeom>
          <a:ln w="12700">
            <a:solidFill>
              <a:srgbClr val="C9CD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446520" y="4160520"/>
            <a:ext cx="5029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3B7A57"/>
                </a:solidFill>
                <a:latin typeface="Calibri"/>
              </a:rPr>
              <a:t>IN   </a:t>
            </a:r>
            <a:r>
              <a:rPr sz="1300" b="0" i="0">
                <a:solidFill>
                  <a:srgbClr val="36414A"/>
                </a:solidFill>
                <a:latin typeface="Calibri"/>
              </a:rPr>
              <a:t>plan.json · analysis.md · source + tests · report.json (repair)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5029200"/>
            <a:ext cx="5029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328"/>
                </a:solidFill>
                <a:latin typeface="Calibri"/>
              </a:rPr>
              <a:t>OUT   </a:t>
            </a:r>
            <a:r>
              <a:rPr sz="1200" b="0" i="0">
                <a:solidFill>
                  <a:srgbClr val="36414A"/>
                </a:solidFill>
                <a:latin typeface="Consolas"/>
              </a:rPr>
              <a:t>pipeline/crate/xcvrd-rs — implemented milestone + tests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1F2328"/>
                </a:solidFill>
                <a:latin typeface="Georgia"/>
              </a:rPr>
              <a:t>validate — two-layer verification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554480"/>
            <a:ext cx="10908792" cy="0"/>
          </a:xfrm>
          <a:prstGeom prst="line">
            <a:avLst/>
          </a:prstGeom>
          <a:ln w="12700">
            <a:solidFill>
              <a:srgbClr val="C9CD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1828800"/>
            <a:ext cx="118872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analyze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19202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2020824" y="1828800"/>
            <a:ext cx="118872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9544" y="1828800"/>
            <a:ext cx="19202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401568" y="1828800"/>
            <a:ext cx="118872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0288" y="1828800"/>
            <a:ext cx="19202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82312" y="1828800"/>
            <a:ext cx="118872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select_</a:t>
            </a:r>
          </a:p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milestone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71031" y="1828800"/>
            <a:ext cx="19202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63055" y="1828800"/>
            <a:ext cx="118872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translate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51775" y="1828800"/>
            <a:ext cx="19202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43800" y="1828800"/>
            <a:ext cx="1188720" cy="777240"/>
          </a:xfrm>
          <a:prstGeom prst="rect">
            <a:avLst/>
          </a:prstGeom>
          <a:solidFill>
            <a:srgbClr val="3B7A57"/>
          </a:solidFill>
          <a:ln w="9525">
            <a:solidFill>
              <a:srgbClr val="3B7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validate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1828800"/>
            <a:ext cx="19202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24544" y="1828800"/>
            <a:ext cx="118872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parity_</a:t>
            </a:r>
          </a:p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verify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264" y="1828800"/>
            <a:ext cx="19202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305288" y="1828800"/>
            <a:ext cx="118872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terminal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138160" y="2606040"/>
            <a:ext cx="0" cy="164592"/>
          </a:xfrm>
          <a:prstGeom prst="line">
            <a:avLst/>
          </a:prstGeom>
          <a:ln w="13970">
            <a:solidFill>
              <a:srgbClr val="6B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5376672" y="2770632"/>
            <a:ext cx="2761488" cy="0"/>
          </a:xfrm>
          <a:prstGeom prst="line">
            <a:avLst/>
          </a:prstGeom>
          <a:ln w="13970">
            <a:solidFill>
              <a:srgbClr val="6B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5376672" y="2606040"/>
            <a:ext cx="0" cy="164592"/>
          </a:xfrm>
          <a:prstGeom prst="line">
            <a:avLst/>
          </a:prstGeom>
          <a:ln w="13970">
            <a:solidFill>
              <a:srgbClr val="6B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518904" y="2606040"/>
            <a:ext cx="0" cy="411480"/>
          </a:xfrm>
          <a:prstGeom prst="line">
            <a:avLst/>
          </a:prstGeom>
          <a:ln w="13970">
            <a:solidFill>
              <a:srgbClr val="6B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2615184" y="3017520"/>
            <a:ext cx="6903720" cy="0"/>
          </a:xfrm>
          <a:prstGeom prst="line">
            <a:avLst/>
          </a:prstGeom>
          <a:ln w="13970">
            <a:solidFill>
              <a:srgbClr val="6B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615184" y="2606040"/>
            <a:ext cx="0" cy="411480"/>
          </a:xfrm>
          <a:prstGeom prst="line">
            <a:avLst/>
          </a:prstGeom>
          <a:ln w="13970">
            <a:solidFill>
              <a:srgbClr val="6B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376672" y="2624328"/>
            <a:ext cx="276148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>
                <a:solidFill>
                  <a:srgbClr val="6B7480"/>
                </a:solidFill>
                <a:latin typeface="Calibri"/>
              </a:rPr>
              <a:t>repair · next milestone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15184" y="3063240"/>
            <a:ext cx="6903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>
                <a:solidFill>
                  <a:srgbClr val="6B7480"/>
                </a:solidFill>
                <a:latin typeface="Calibri"/>
              </a:rPr>
              <a:t>parity gaps → new milestones · all green → terminal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429000"/>
            <a:ext cx="5349240" cy="246888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3593592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6B7480"/>
                </a:solidFill>
                <a:latin typeface="Calibri"/>
              </a:rPr>
              <a:t>Agent · </a:t>
            </a:r>
            <a:r>
              <a:rPr sz="1500" b="1" i="0">
                <a:solidFill>
                  <a:srgbClr val="1F2328"/>
                </a:solidFill>
                <a:latin typeface="Consolas"/>
              </a:rPr>
              <a:t>validator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8680" y="3995928"/>
            <a:ext cx="4892040" cy="0"/>
          </a:xfrm>
          <a:prstGeom prst="line">
            <a:avLst/>
          </a:prstGeom>
          <a:ln w="12700">
            <a:solidFill>
              <a:srgbClr val="C9CD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86968" y="4142232"/>
            <a:ext cx="493776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900"/>
              </a:spcAft>
              <a:buFont typeface="Calibri"/>
              <a:buChar char="–"/>
            </a:pPr>
            <a:r>
              <a:rPr sz="1350">
                <a:solidFill>
                  <a:srgbClr val="36414A"/>
                </a:solidFill>
                <a:latin typeface="Calibri"/>
              </a:rPr>
              <a:t>Independently validates two layers: mocked Rust unit tests (cargo test) AND the fixed e2e xcvrd-tests oracle on the live DUT.</a:t>
            </a:r>
          </a:p>
          <a:p>
            <a:pPr marL="219456" indent="-219456">
              <a:spcAft>
                <a:spcPts val="900"/>
              </a:spcAft>
              <a:buFont typeface="Calibri"/>
              <a:buChar char="–"/>
            </a:pPr>
            <a:r>
              <a:rPr sz="1350">
                <a:solidFill>
                  <a:srgbClr val="36414A"/>
                </a:solidFill>
                <a:latin typeface="Calibri"/>
              </a:rPr>
              <a:t>A milestone passes only when BOTH pass — never edits code.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9632" y="3429000"/>
            <a:ext cx="5349240" cy="246888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28232" y="3593592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2328"/>
                </a:solidFill>
                <a:latin typeface="Calibri"/>
              </a:rPr>
              <a:t>Input → Output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428232" y="3995928"/>
            <a:ext cx="4892040" cy="0"/>
          </a:xfrm>
          <a:prstGeom prst="line">
            <a:avLst/>
          </a:prstGeom>
          <a:ln w="12700">
            <a:solidFill>
              <a:srgbClr val="C9CD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446520" y="4160520"/>
            <a:ext cx="5029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3B7A57"/>
                </a:solidFill>
                <a:latin typeface="Calibri"/>
              </a:rPr>
              <a:t>IN   </a:t>
            </a:r>
            <a:r>
              <a:rPr sz="1300" b="0" i="0">
                <a:solidFill>
                  <a:srgbClr val="36414A"/>
                </a:solidFill>
                <a:latin typeface="Calibri"/>
              </a:rPr>
              <a:t>pipeline/crate  (via unit_test.sh + validate_on_dut.sh)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5029200"/>
            <a:ext cx="5029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328"/>
                </a:solidFill>
                <a:latin typeface="Calibri"/>
              </a:rPr>
              <a:t>OUT   </a:t>
            </a:r>
            <a:r>
              <a:rPr sz="1200" b="0" i="0">
                <a:solidFill>
                  <a:srgbClr val="36414A"/>
                </a:solidFill>
                <a:latin typeface="Consolas"/>
              </a:rPr>
              <a:t>pipeline/report.json {passed, tests, failures} → repair or advance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1F2328"/>
                </a:solidFill>
                <a:latin typeface="Georgia"/>
              </a:rPr>
              <a:t>parity_verify — completeness gate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554480"/>
            <a:ext cx="10908792" cy="0"/>
          </a:xfrm>
          <a:prstGeom prst="line">
            <a:avLst/>
          </a:prstGeom>
          <a:ln w="12700">
            <a:solidFill>
              <a:srgbClr val="C9CD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1828800"/>
            <a:ext cx="118872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analyze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19202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2020824" y="1828800"/>
            <a:ext cx="118872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9544" y="1828800"/>
            <a:ext cx="19202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401568" y="1828800"/>
            <a:ext cx="118872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0288" y="1828800"/>
            <a:ext cx="19202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82312" y="1828800"/>
            <a:ext cx="118872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select_</a:t>
            </a:r>
          </a:p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milestone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71031" y="1828800"/>
            <a:ext cx="19202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63055" y="1828800"/>
            <a:ext cx="118872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translate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51775" y="1828800"/>
            <a:ext cx="19202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43800" y="1828800"/>
            <a:ext cx="118872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validate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1828800"/>
            <a:ext cx="19202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24544" y="1828800"/>
            <a:ext cx="1188720" cy="777240"/>
          </a:xfrm>
          <a:prstGeom prst="rect">
            <a:avLst/>
          </a:prstGeom>
          <a:solidFill>
            <a:srgbClr val="3B7A57"/>
          </a:solidFill>
          <a:ln w="9525">
            <a:solidFill>
              <a:srgbClr val="3B7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parity_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verify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264" y="1828800"/>
            <a:ext cx="19202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305288" y="1828800"/>
            <a:ext cx="118872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terminal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138160" y="2606040"/>
            <a:ext cx="0" cy="164592"/>
          </a:xfrm>
          <a:prstGeom prst="line">
            <a:avLst/>
          </a:prstGeom>
          <a:ln w="13970">
            <a:solidFill>
              <a:srgbClr val="6B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5376672" y="2770632"/>
            <a:ext cx="2761488" cy="0"/>
          </a:xfrm>
          <a:prstGeom prst="line">
            <a:avLst/>
          </a:prstGeom>
          <a:ln w="13970">
            <a:solidFill>
              <a:srgbClr val="6B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5376672" y="2606040"/>
            <a:ext cx="0" cy="164592"/>
          </a:xfrm>
          <a:prstGeom prst="line">
            <a:avLst/>
          </a:prstGeom>
          <a:ln w="13970">
            <a:solidFill>
              <a:srgbClr val="6B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518904" y="2606040"/>
            <a:ext cx="0" cy="411480"/>
          </a:xfrm>
          <a:prstGeom prst="line">
            <a:avLst/>
          </a:prstGeom>
          <a:ln w="13970">
            <a:solidFill>
              <a:srgbClr val="6B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2615184" y="3017520"/>
            <a:ext cx="6903720" cy="0"/>
          </a:xfrm>
          <a:prstGeom prst="line">
            <a:avLst/>
          </a:prstGeom>
          <a:ln w="13970">
            <a:solidFill>
              <a:srgbClr val="6B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615184" y="2606040"/>
            <a:ext cx="0" cy="411480"/>
          </a:xfrm>
          <a:prstGeom prst="line">
            <a:avLst/>
          </a:prstGeom>
          <a:ln w="13970">
            <a:solidFill>
              <a:srgbClr val="6B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376672" y="2624328"/>
            <a:ext cx="276148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>
                <a:solidFill>
                  <a:srgbClr val="6B7480"/>
                </a:solidFill>
                <a:latin typeface="Calibri"/>
              </a:rPr>
              <a:t>repair · next milestone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15184" y="3063240"/>
            <a:ext cx="6903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>
                <a:solidFill>
                  <a:srgbClr val="6B7480"/>
                </a:solidFill>
                <a:latin typeface="Calibri"/>
              </a:rPr>
              <a:t>parity gaps → new milestones · all green → terminal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429000"/>
            <a:ext cx="5349240" cy="246888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3593592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6B7480"/>
                </a:solidFill>
                <a:latin typeface="Calibri"/>
              </a:rPr>
              <a:t>Agent · </a:t>
            </a:r>
            <a:r>
              <a:rPr sz="1500" b="1" i="0">
                <a:solidFill>
                  <a:srgbClr val="1F2328"/>
                </a:solidFill>
                <a:latin typeface="Consolas"/>
              </a:rPr>
              <a:t>parity_verifier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8680" y="3995928"/>
            <a:ext cx="4892040" cy="0"/>
          </a:xfrm>
          <a:prstGeom prst="line">
            <a:avLst/>
          </a:prstGeom>
          <a:ln w="12700">
            <a:solidFill>
              <a:srgbClr val="C9CD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86968" y="4142232"/>
            <a:ext cx="493776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900"/>
              </a:spcAft>
              <a:buFont typeface="Calibri"/>
              <a:buChar char="–"/>
            </a:pPr>
            <a:r>
              <a:rPr sz="1350">
                <a:solidFill>
                  <a:srgbClr val="36414A"/>
                </a:solidFill>
                <a:latin typeface="Calibri"/>
              </a:rPr>
              <a:t>Final completeness gate. After all milestones pass, compares the Python source vs the final Rust per module.</a:t>
            </a:r>
          </a:p>
          <a:p>
            <a:pPr marL="219456" indent="-219456">
              <a:spcAft>
                <a:spcPts val="900"/>
              </a:spcAft>
              <a:buFont typeface="Calibri"/>
              <a:buChar char="–"/>
            </a:pPr>
            <a:r>
              <a:rPr sz="1350">
                <a:solidFill>
                  <a:srgbClr val="36414A"/>
                </a:solidFill>
                <a:latin typeface="Calibri"/>
              </a:rPr>
              <a:t>Proves nothing was left untranslated; gaps feed back to the Scoper as new milestones — no deferral.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9632" y="3429000"/>
            <a:ext cx="5349240" cy="246888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28232" y="3593592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2328"/>
                </a:solidFill>
                <a:latin typeface="Calibri"/>
              </a:rPr>
              <a:t>Input → Output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428232" y="3995928"/>
            <a:ext cx="4892040" cy="0"/>
          </a:xfrm>
          <a:prstGeom prst="line">
            <a:avLst/>
          </a:prstGeom>
          <a:ln w="12700">
            <a:solidFill>
              <a:srgbClr val="C9CD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446520" y="4160520"/>
            <a:ext cx="5029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3B7A57"/>
                </a:solidFill>
                <a:latin typeface="Calibri"/>
              </a:rPr>
              <a:t>IN   </a:t>
            </a:r>
            <a:r>
              <a:rPr sz="1300" b="0" i="0">
                <a:solidFill>
                  <a:srgbClr val="36414A"/>
                </a:solidFill>
                <a:latin typeface="Calibri"/>
              </a:rPr>
              <a:t>source · final Rust crate · analysis.md · milestones.json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5029200"/>
            <a:ext cx="5029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328"/>
                </a:solidFill>
                <a:latin typeface="Calibri"/>
              </a:rPr>
              <a:t>OUT   </a:t>
            </a:r>
            <a:r>
              <a:rPr sz="1200" b="0" i="0">
                <a:solidFill>
                  <a:srgbClr val="36414A"/>
                </a:solidFill>
                <a:latin typeface="Consolas"/>
              </a:rPr>
              <a:t>pipeline/parity_report.json {coverage_matrix, gaps, complete}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1F2328"/>
                </a:solidFill>
                <a:latin typeface="Georgia"/>
              </a:rPr>
              <a:t>terminal — verified Rust port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554480"/>
            <a:ext cx="10908792" cy="0"/>
          </a:xfrm>
          <a:prstGeom prst="line">
            <a:avLst/>
          </a:prstGeom>
          <a:ln w="12700">
            <a:solidFill>
              <a:srgbClr val="C9CD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1828800"/>
            <a:ext cx="118872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analyze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19202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2020824" y="1828800"/>
            <a:ext cx="118872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9544" y="1828800"/>
            <a:ext cx="19202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401568" y="1828800"/>
            <a:ext cx="118872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0288" y="1828800"/>
            <a:ext cx="19202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82312" y="1828800"/>
            <a:ext cx="118872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select_</a:t>
            </a:r>
          </a:p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milestone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71031" y="1828800"/>
            <a:ext cx="19202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63055" y="1828800"/>
            <a:ext cx="118872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translate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51775" y="1828800"/>
            <a:ext cx="19202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43800" y="1828800"/>
            <a:ext cx="118872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validate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1828800"/>
            <a:ext cx="19202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24544" y="1828800"/>
            <a:ext cx="118872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parity_</a:t>
            </a:r>
          </a:p>
          <a:p>
            <a:pPr algn="ctr"/>
            <a:r>
              <a:rPr sz="1000" b="1">
                <a:solidFill>
                  <a:srgbClr val="1F2328"/>
                </a:solidFill>
                <a:latin typeface="Consolas"/>
              </a:rPr>
              <a:t>verify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264" y="1828800"/>
            <a:ext cx="19202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305288" y="1828800"/>
            <a:ext cx="1188720" cy="777240"/>
          </a:xfrm>
          <a:prstGeom prst="rect">
            <a:avLst/>
          </a:prstGeom>
          <a:solidFill>
            <a:srgbClr val="3B7A57"/>
          </a:solidFill>
          <a:ln w="9525">
            <a:solidFill>
              <a:srgbClr val="3B7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terminal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138160" y="2606040"/>
            <a:ext cx="0" cy="164592"/>
          </a:xfrm>
          <a:prstGeom prst="line">
            <a:avLst/>
          </a:prstGeom>
          <a:ln w="13970">
            <a:solidFill>
              <a:srgbClr val="6B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5376672" y="2770632"/>
            <a:ext cx="2761488" cy="0"/>
          </a:xfrm>
          <a:prstGeom prst="line">
            <a:avLst/>
          </a:prstGeom>
          <a:ln w="13970">
            <a:solidFill>
              <a:srgbClr val="6B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5376672" y="2606040"/>
            <a:ext cx="0" cy="164592"/>
          </a:xfrm>
          <a:prstGeom prst="line">
            <a:avLst/>
          </a:prstGeom>
          <a:ln w="13970">
            <a:solidFill>
              <a:srgbClr val="6B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518904" y="2606040"/>
            <a:ext cx="0" cy="411480"/>
          </a:xfrm>
          <a:prstGeom prst="line">
            <a:avLst/>
          </a:prstGeom>
          <a:ln w="13970">
            <a:solidFill>
              <a:srgbClr val="6B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2615184" y="3017520"/>
            <a:ext cx="6903720" cy="0"/>
          </a:xfrm>
          <a:prstGeom prst="line">
            <a:avLst/>
          </a:prstGeom>
          <a:ln w="13970">
            <a:solidFill>
              <a:srgbClr val="6B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615184" y="2606040"/>
            <a:ext cx="0" cy="411480"/>
          </a:xfrm>
          <a:prstGeom prst="line">
            <a:avLst/>
          </a:prstGeom>
          <a:ln w="13970">
            <a:solidFill>
              <a:srgbClr val="6B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376672" y="2624328"/>
            <a:ext cx="276148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>
                <a:solidFill>
                  <a:srgbClr val="6B7480"/>
                </a:solidFill>
                <a:latin typeface="Calibri"/>
              </a:rPr>
              <a:t>repair · next milestone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15184" y="3063240"/>
            <a:ext cx="6903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>
                <a:solidFill>
                  <a:srgbClr val="6B7480"/>
                </a:solidFill>
                <a:latin typeface="Calibri"/>
              </a:rPr>
              <a:t>parity gaps → new milestones · all green → terminal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429000"/>
            <a:ext cx="5349240" cy="246888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3593592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6B7480"/>
                </a:solidFill>
                <a:latin typeface="Calibri"/>
              </a:rPr>
              <a:t>Step · </a:t>
            </a:r>
            <a:r>
              <a:rPr sz="1500" b="1" i="0">
                <a:solidFill>
                  <a:srgbClr val="1F2328"/>
                </a:solidFill>
                <a:latin typeface="Consolas"/>
              </a:rPr>
              <a:t>done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8680" y="3995928"/>
            <a:ext cx="4892040" cy="0"/>
          </a:xfrm>
          <a:prstGeom prst="line">
            <a:avLst/>
          </a:prstGeom>
          <a:ln w="12700">
            <a:solidFill>
              <a:srgbClr val="C9CD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86968" y="4142232"/>
            <a:ext cx="493776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900"/>
              </a:spcAft>
              <a:buFont typeface="Calibri"/>
              <a:buChar char="–"/>
            </a:pPr>
            <a:r>
              <a:rPr sz="1350">
                <a:solidFill>
                  <a:srgbClr val="36414A"/>
                </a:solidFill>
                <a:latin typeface="Calibri"/>
              </a:rPr>
              <a:t>All milestones translated &amp; validated and parity is complete → the pipeline succeeds.</a:t>
            </a:r>
          </a:p>
          <a:p>
            <a:pPr marL="219456" indent="-219456">
              <a:spcAft>
                <a:spcPts val="900"/>
              </a:spcAft>
              <a:buFont typeface="Calibri"/>
              <a:buChar char="–"/>
            </a:pPr>
            <a:r>
              <a:rPr sz="1350">
                <a:solidFill>
                  <a:srgbClr val="36414A"/>
                </a:solidFill>
                <a:latin typeface="Calibri"/>
              </a:rPr>
              <a:t>Emits the verified Rust xcvrd port and the CodeWeaver run artifacts.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9632" y="3429000"/>
            <a:ext cx="5349240" cy="246888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28232" y="3593592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2328"/>
                </a:solidFill>
                <a:latin typeface="Calibri"/>
              </a:rPr>
              <a:t>Input → Output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428232" y="3995928"/>
            <a:ext cx="4892040" cy="0"/>
          </a:xfrm>
          <a:prstGeom prst="line">
            <a:avLst/>
          </a:prstGeom>
          <a:ln w="12700">
            <a:solidFill>
              <a:srgbClr val="C9CD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446520" y="4160520"/>
            <a:ext cx="5029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3B7A57"/>
                </a:solidFill>
                <a:latin typeface="Calibri"/>
              </a:rPr>
              <a:t>IN   </a:t>
            </a:r>
            <a:r>
              <a:rPr sz="1300" b="0" i="0">
                <a:solidFill>
                  <a:srgbClr val="36414A"/>
                </a:solidFill>
                <a:latin typeface="Calibri"/>
              </a:rPr>
              <a:t>green unit + e2e gates · parity complete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5029200"/>
            <a:ext cx="5029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328"/>
                </a:solidFill>
                <a:latin typeface="Calibri"/>
              </a:rPr>
              <a:t>OUT   </a:t>
            </a:r>
            <a:r>
              <a:rPr sz="1200" b="0" i="0">
                <a:solidFill>
                  <a:srgbClr val="36414A"/>
                </a:solidFill>
                <a:latin typeface="Consolas"/>
              </a:rPr>
              <a:t>verified Rust xcvrd port  (+ CodeWeaver artifacts)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777240"/>
            <a:ext cx="108813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>
                <a:solidFill>
                  <a:srgbClr val="1F2328"/>
                </a:solidFill>
                <a:latin typeface="Georgia"/>
              </a:rPr>
              <a:t>Output &amp; </a:t>
            </a:r>
            <a:r>
              <a:rPr sz="2800" b="1" i="0" dirty="0" err="1">
                <a:solidFill>
                  <a:srgbClr val="1F2328"/>
                </a:solidFill>
                <a:latin typeface="Georgia"/>
              </a:rPr>
              <a:t>SONiC</a:t>
            </a:r>
            <a:r>
              <a:rPr sz="2800" b="1" i="0" dirty="0">
                <a:solidFill>
                  <a:srgbClr val="1F2328"/>
                </a:solidFill>
                <a:latin typeface="Georgia"/>
              </a:rPr>
              <a:t>-MGMT status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600200"/>
            <a:ext cx="10908792" cy="0"/>
          </a:xfrm>
          <a:prstGeom prst="line">
            <a:avLst/>
          </a:prstGeom>
          <a:ln w="12700">
            <a:solidFill>
              <a:srgbClr val="C9CD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2148840"/>
            <a:ext cx="5029200" cy="0"/>
          </a:xfrm>
          <a:prstGeom prst="line">
            <a:avLst/>
          </a:prstGeom>
          <a:ln w="12700">
            <a:solidFill>
              <a:srgbClr val="C9CD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2286000"/>
            <a:ext cx="50292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>
              <a:spcAft>
                <a:spcPts val="1200"/>
              </a:spcAft>
              <a:buFont typeface="Calibri"/>
              <a:buChar char="–"/>
            </a:pPr>
            <a:r>
              <a:rPr sz="1500" b="1" i="0" dirty="0">
                <a:solidFill>
                  <a:srgbClr val="1F2328"/>
                </a:solidFill>
                <a:latin typeface="Calibri"/>
              </a:rPr>
              <a:t>Rust port</a:t>
            </a:r>
            <a:r>
              <a:rPr sz="1500" b="0" i="0" dirty="0">
                <a:solidFill>
                  <a:srgbClr val="36414A"/>
                </a:solidFill>
                <a:latin typeface="Calibri"/>
              </a:rPr>
              <a:t>  passing all </a:t>
            </a:r>
            <a:r>
              <a:rPr lang="en-US" sz="1500" b="0" i="0" dirty="0">
                <a:solidFill>
                  <a:srgbClr val="36414A"/>
                </a:solidFill>
                <a:latin typeface="Calibri"/>
              </a:rPr>
              <a:t>E2E tests</a:t>
            </a:r>
            <a:endParaRPr sz="1500" b="0" i="0" dirty="0">
              <a:solidFill>
                <a:srgbClr val="36414A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0080" y="3977639"/>
            <a:ext cx="5212080" cy="777240"/>
          </a:xfrm>
          <a:prstGeom prst="rect">
            <a:avLst/>
          </a:prstGeom>
          <a:solidFill>
            <a:srgbClr val="F2F3F5"/>
          </a:solidFill>
          <a:ln w="15875">
            <a:solidFill>
              <a:srgbClr val="3B7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600" b="1" i="0" dirty="0">
                <a:solidFill>
                  <a:srgbClr val="3B7A57"/>
                </a:solidFill>
                <a:latin typeface="Calibri"/>
              </a:rPr>
              <a:t>✓</a:t>
            </a:r>
            <a:r>
              <a:rPr lang="en-US" sz="1600" b="1" i="0" dirty="0">
                <a:solidFill>
                  <a:srgbClr val="3B7A57"/>
                </a:solidFill>
                <a:latin typeface="Calibri"/>
              </a:rPr>
              <a:t> Pass Oracle Tests</a:t>
            </a:r>
            <a:endParaRPr lang="en-US" sz="1600" b="1" dirty="0">
              <a:solidFill>
                <a:srgbClr val="3B7A57"/>
              </a:solidFill>
              <a:latin typeface="Calibri"/>
            </a:endParaRPr>
          </a:p>
          <a:p>
            <a:pPr algn="ctr"/>
            <a:r>
              <a:rPr lang="en-US" sz="1600" b="1" dirty="0">
                <a:solidFill>
                  <a:srgbClr val="3B7A57"/>
                </a:solidFill>
                <a:latin typeface="Calibri"/>
              </a:rPr>
              <a:t>~100 E2E tests</a:t>
            </a:r>
            <a:endParaRPr lang="en-US" sz="1600" b="1" i="0" dirty="0">
              <a:solidFill>
                <a:srgbClr val="3B7A57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26480" y="17830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dirty="0">
                <a:solidFill>
                  <a:srgbClr val="1F2328"/>
                </a:solidFill>
                <a:latin typeface="Calibri"/>
              </a:rPr>
              <a:t>SONIC-MGMT — RUST PORT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26480" y="2148840"/>
            <a:ext cx="5422392" cy="0"/>
          </a:xfrm>
          <a:prstGeom prst="line">
            <a:avLst/>
          </a:prstGeom>
          <a:ln w="12700">
            <a:solidFill>
              <a:srgbClr val="C9CD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126480" y="2286000"/>
            <a:ext cx="5422392" cy="475488"/>
          </a:xfrm>
          <a:prstGeom prst="rect">
            <a:avLst/>
          </a:prstGeom>
          <a:solidFill>
            <a:srgbClr val="1F2328"/>
          </a:solidFill>
          <a:ln w="6350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2286000"/>
            <a:ext cx="21945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286000"/>
            <a:ext cx="1993391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43032" y="2286000"/>
            <a:ext cx="10515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2761488"/>
            <a:ext cx="5422392" cy="475488"/>
          </a:xfrm>
          <a:prstGeom prst="rect">
            <a:avLst/>
          </a:prstGeom>
          <a:solidFill>
            <a:srgbClr val="F2F3F5"/>
          </a:solidFill>
          <a:ln w="6350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0" y="2761488"/>
            <a:ext cx="21945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2328"/>
                </a:solidFill>
                <a:latin typeface="Consolas"/>
              </a:rPr>
              <a:t>test_xcvr_info_in_db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761488"/>
            <a:ext cx="1993391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36414A"/>
                </a:solidFill>
                <a:latin typeface="Calibri"/>
              </a:rPr>
              <a:t>TRANSCEIVER_INFO / DOM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43032" y="2761488"/>
            <a:ext cx="10515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3B7A57"/>
                </a:solidFill>
                <a:latin typeface="Calibri"/>
              </a:rPr>
              <a:t>PASS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3236976"/>
            <a:ext cx="542239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0" y="3236976"/>
            <a:ext cx="21945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2328"/>
                </a:solidFill>
                <a:latin typeface="Consolas"/>
              </a:rPr>
              <a:t>sfp/test_sfpshow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236976"/>
            <a:ext cx="1993391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36414A"/>
                </a:solidFill>
                <a:latin typeface="Calibri"/>
              </a:rPr>
              <a:t>presence, eeprom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43032" y="3236976"/>
            <a:ext cx="10515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3B7A57"/>
                </a:solidFill>
                <a:latin typeface="Calibri"/>
              </a:rPr>
              <a:t>PASS (2)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3712464"/>
            <a:ext cx="5422392" cy="475488"/>
          </a:xfrm>
          <a:prstGeom prst="rect">
            <a:avLst/>
          </a:prstGeom>
          <a:solidFill>
            <a:srgbClr val="F2F3F5"/>
          </a:solidFill>
          <a:ln w="6350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0" y="3712464"/>
            <a:ext cx="21945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2328"/>
                </a:solidFill>
                <a:latin typeface="Consolas"/>
              </a:rPr>
              <a:t>sfp/test_sfputil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3712464"/>
            <a:ext cx="1993391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36414A"/>
                </a:solidFill>
                <a:latin typeface="Calibri"/>
              </a:rPr>
              <a:t>presence, eeprom, reset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43032" y="3712464"/>
            <a:ext cx="10515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3B7A57"/>
                </a:solidFill>
                <a:latin typeface="Calibri"/>
              </a:rPr>
              <a:t>PASS (6)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4187952"/>
            <a:ext cx="542239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17920" y="4187952"/>
            <a:ext cx="21945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2328"/>
                </a:solidFill>
                <a:latin typeface="Consolas"/>
              </a:rPr>
              <a:t>api/test_sfp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4187952"/>
            <a:ext cx="1993391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36414A"/>
                </a:solidFill>
                <a:latin typeface="Calibri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43032" y="4187952"/>
            <a:ext cx="10515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3B7A57"/>
                </a:solidFill>
                <a:latin typeface="Calibri"/>
              </a:rPr>
              <a:t>PASS (23)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4663440"/>
            <a:ext cx="5422392" cy="475488"/>
          </a:xfrm>
          <a:prstGeom prst="rect">
            <a:avLst/>
          </a:prstGeom>
          <a:solidFill>
            <a:srgbClr val="F2F3F5"/>
          </a:solidFill>
          <a:ln w="6350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17920" y="4663440"/>
            <a:ext cx="21945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2328"/>
                </a:solidFill>
                <a:latin typeface="Consolas"/>
              </a:rPr>
              <a:t>transceiver/eeprom/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4663440"/>
            <a:ext cx="1993391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36414A"/>
                </a:solidFill>
                <a:latin typeface="Calibri"/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43032" y="4663440"/>
            <a:ext cx="10515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3B7A57"/>
                </a:solidFill>
                <a:latin typeface="Calibri"/>
              </a:rPr>
              <a:t>PASS (3)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5212080"/>
            <a:ext cx="54864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i="1" dirty="0">
                <a:solidFill>
                  <a:srgbClr val="6B7480"/>
                </a:solidFill>
                <a:latin typeface="Calibri"/>
              </a:rPr>
              <a:t>Similar to python baseline</a:t>
            </a:r>
            <a:endParaRPr sz="1100" b="0" i="1" dirty="0">
              <a:solidFill>
                <a:srgbClr val="6B7480"/>
              </a:solidFill>
              <a:latin typeface="Calibr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40080" y="178308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328"/>
                </a:solidFill>
                <a:latin typeface="Calibri"/>
              </a:rPr>
              <a:t>OUTPUTS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278892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7744" indent="-237744">
              <a:spcAft>
                <a:spcPts val="1000"/>
              </a:spcAft>
              <a:buFont typeface="Calibri"/>
              <a:buChar char="–"/>
            </a:pPr>
            <a:r>
              <a:rPr sz="1500" b="1" i="0">
                <a:solidFill>
                  <a:srgbClr val="1F2328"/>
                </a:solidFill>
                <a:latin typeface="Calibri"/>
              </a:rPr>
              <a:t>CodeWeaver</a:t>
            </a:r>
            <a:r>
              <a:rPr sz="1500" b="0" i="0">
                <a:solidFill>
                  <a:srgbClr val="36414A"/>
                </a:solidFill>
                <a:latin typeface="Calibri"/>
              </a:rPr>
              <a:t>  —  reusable LLM code-migration framework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Georgia"/>
              </a:rPr>
              <a:t>CodeWeaver — the general framework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600200"/>
            <a:ext cx="10908792" cy="0"/>
          </a:xfrm>
          <a:prstGeom prst="line">
            <a:avLst/>
          </a:prstGeom>
          <a:ln w="12700">
            <a:solidFill>
              <a:srgbClr val="C9CD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828800"/>
            <a:ext cx="108813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>
                <a:solidFill>
                  <a:srgbClr val="36414A"/>
                </a:solidFill>
                <a:latin typeface="Calibri"/>
              </a:rPr>
              <a:t>The generalization of </a:t>
            </a:r>
            <a:r>
              <a:rPr lang="en-US" sz="1600" b="1" dirty="0" err="1">
                <a:solidFill>
                  <a:srgbClr val="1F2328"/>
                </a:solidFill>
                <a:latin typeface="Consolas"/>
              </a:rPr>
              <a:t>CodeWeaver</a:t>
            </a:r>
            <a:r>
              <a:rPr sz="1600" b="0" i="0" dirty="0">
                <a:solidFill>
                  <a:srgbClr val="36414A"/>
                </a:solidFill>
                <a:latin typeface="Calibri"/>
              </a:rPr>
              <a:t> — the same engine drives </a:t>
            </a:r>
            <a:r>
              <a:rPr sz="1600" b="1" i="1" dirty="0">
                <a:solidFill>
                  <a:srgbClr val="1F2328"/>
                </a:solidFill>
                <a:latin typeface="Calibri"/>
              </a:rPr>
              <a:t>any</a:t>
            </a:r>
            <a:r>
              <a:rPr sz="1600" b="0" i="0" dirty="0">
                <a:solidFill>
                  <a:srgbClr val="36414A"/>
                </a:solidFill>
                <a:latin typeface="Calibri"/>
              </a:rPr>
              <a:t> translation.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468880"/>
            <a:ext cx="5349240" cy="310896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633472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2328"/>
                </a:solidFill>
                <a:latin typeface="Georgia"/>
              </a:rPr>
              <a:t>What it is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8680" y="3017520"/>
            <a:ext cx="4892040" cy="0"/>
          </a:xfrm>
          <a:prstGeom prst="line">
            <a:avLst/>
          </a:prstGeom>
          <a:ln w="12700">
            <a:solidFill>
              <a:srgbClr val="C9CD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86968" y="3154680"/>
            <a:ext cx="4937760" cy="33239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7744" indent="-237744">
              <a:spcAft>
                <a:spcPts val="900"/>
              </a:spcAft>
              <a:buFont typeface="Calibri"/>
              <a:buChar char="–"/>
            </a:pPr>
            <a:r>
              <a:rPr sz="1350" b="1" i="0" dirty="0">
                <a:latin typeface="Calibri"/>
              </a:rPr>
              <a:t>multi-agent framework</a:t>
            </a:r>
            <a:r>
              <a:rPr sz="1350" b="0" i="0" dirty="0">
                <a:latin typeface="Calibri"/>
              </a:rPr>
              <a:t> for LLM-driven code migration</a:t>
            </a:r>
          </a:p>
          <a:p>
            <a:pPr marL="237744" indent="-237744">
              <a:spcAft>
                <a:spcPts val="900"/>
              </a:spcAft>
              <a:buFont typeface="Calibri"/>
              <a:buChar char="–"/>
            </a:pPr>
            <a:r>
              <a:rPr sz="1350" b="0" i="0" dirty="0">
                <a:latin typeface="Calibri"/>
              </a:rPr>
              <a:t>Burr sequences agents, owns the milestone × repair loop, crash-resumes, renders a telemetry UI</a:t>
            </a:r>
            <a:endParaRPr lang="en-US" sz="1350" b="0" i="0" dirty="0">
              <a:latin typeface="Calibri"/>
            </a:endParaRPr>
          </a:p>
          <a:p>
            <a:pPr marL="237744" indent="-237744">
              <a:spcAft>
                <a:spcPts val="900"/>
              </a:spcAft>
              <a:buFont typeface="Calibri"/>
              <a:buChar char="–"/>
            </a:pPr>
            <a:r>
              <a:rPr lang="en-US" sz="1350" dirty="0"/>
              <a:t>Everything project-specific lives in a </a:t>
            </a:r>
            <a:r>
              <a:rPr lang="en-US" sz="1350" b="1" dirty="0"/>
              <a:t>config file</a:t>
            </a:r>
          </a:p>
          <a:p>
            <a:pPr marL="237744" indent="-237744">
              <a:spcAft>
                <a:spcPts val="900"/>
              </a:spcAft>
              <a:buFont typeface="Calibri"/>
              <a:buChar char="–"/>
            </a:pPr>
            <a:r>
              <a:rPr lang="en-US" sz="1350" b="1" dirty="0"/>
              <a:t>Language Agnostic</a:t>
            </a:r>
          </a:p>
          <a:p>
            <a:pPr marL="237744" indent="-237744">
              <a:spcAft>
                <a:spcPts val="900"/>
              </a:spcAft>
              <a:buFont typeface="Calibri"/>
              <a:buChar char="–"/>
            </a:pPr>
            <a:r>
              <a:rPr lang="en-US" sz="1350" dirty="0"/>
              <a:t>Two validation layers: </a:t>
            </a:r>
          </a:p>
          <a:p>
            <a:pPr marL="694944" lvl="1" indent="-237744">
              <a:spcAft>
                <a:spcPts val="900"/>
              </a:spcAft>
              <a:buFont typeface="Calibri"/>
              <a:buChar char="–"/>
            </a:pPr>
            <a:r>
              <a:rPr lang="en-US" sz="1350" dirty="0"/>
              <a:t>mocked unit tests + </a:t>
            </a:r>
          </a:p>
          <a:p>
            <a:pPr marL="694944" lvl="1" indent="-237744">
              <a:spcAft>
                <a:spcPts val="900"/>
              </a:spcAft>
              <a:buFont typeface="Calibri"/>
              <a:buChar char="–"/>
            </a:pPr>
            <a:r>
              <a:rPr lang="en-US" sz="1350" dirty="0"/>
              <a:t>Custom end-to-end oracle</a:t>
            </a:r>
          </a:p>
          <a:p>
            <a:pPr marL="237744" indent="-237744">
              <a:spcAft>
                <a:spcPts val="900"/>
              </a:spcAft>
              <a:buFont typeface="Calibri"/>
              <a:buChar char="–"/>
            </a:pPr>
            <a:endParaRPr lang="en-US" sz="1350" b="1" dirty="0"/>
          </a:p>
          <a:p>
            <a:pPr marL="237744" indent="-237744">
              <a:spcAft>
                <a:spcPts val="900"/>
              </a:spcAft>
              <a:buFont typeface="Calibri"/>
              <a:buChar char="–"/>
            </a:pPr>
            <a:endParaRPr lang="en-US" sz="1350" b="1" dirty="0"/>
          </a:p>
          <a:p>
            <a:pPr marL="237744" indent="-237744">
              <a:spcAft>
                <a:spcPts val="900"/>
              </a:spcAft>
              <a:buFont typeface="Calibri"/>
              <a:buChar char="–"/>
            </a:pPr>
            <a:endParaRPr sz="1350" b="0" i="0" dirty="0">
              <a:solidFill>
                <a:srgbClr val="36414A"/>
              </a:solidFill>
              <a:latin typeface="Calibri"/>
            </a:endParaRPr>
          </a:p>
        </p:txBody>
      </p:sp>
      <p:pic>
        <p:nvPicPr>
          <p:cNvPr id="15" name="Picture 14" descr="CodeWeaver is a logo depicting a circular pattern with intertwined geometric shapes, symbolizing a framework for managing large language model migrations.&#10;&#10;AI-generated content may be incorrect.">
            <a:extLst>
              <a:ext uri="{FF2B5EF4-FFF2-40B4-BE49-F238E27FC236}">
                <a16:creationId xmlns:a16="http://schemas.microsoft.com/office/drawing/2014/main" id="{5654E82D-70F1-5DD8-324D-74B460DEB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090" y="2626324"/>
            <a:ext cx="5411112" cy="2951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4727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Georgia"/>
              </a:rPr>
              <a:t>Benchmarking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600200"/>
            <a:ext cx="10908792" cy="0"/>
          </a:xfrm>
          <a:prstGeom prst="line">
            <a:avLst/>
          </a:prstGeom>
          <a:ln w="12700">
            <a:solidFill>
              <a:srgbClr val="C9CD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1920240"/>
            <a:ext cx="10908792" cy="91440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20116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1F2328"/>
                </a:solidFill>
                <a:latin typeface="Calibri"/>
              </a:rPr>
              <a:t>Is the Rust port faster &amp; more efficient?   </a:t>
            </a:r>
            <a:r>
              <a:rPr sz="1800" b="1" i="0">
                <a:solidFill>
                  <a:srgbClr val="B57A1F"/>
                </a:solidFill>
                <a:latin typeface="Calibri"/>
              </a:rPr>
              <a:t>Not yet.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88136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7744" indent="-237744">
              <a:spcAft>
                <a:spcPts val="1100"/>
              </a:spcAft>
              <a:buFont typeface="Calibri"/>
              <a:buChar char="–"/>
            </a:pPr>
            <a:r>
              <a:rPr sz="1550" b="0" i="0">
                <a:solidFill>
                  <a:srgbClr val="36414A"/>
                </a:solidFill>
                <a:latin typeface="Calibri"/>
              </a:rPr>
              <a:t>The pipeline optimized for </a:t>
            </a:r>
            <a:r>
              <a:rPr sz="1550" b="1" i="0">
                <a:solidFill>
                  <a:srgbClr val="1F2328"/>
                </a:solidFill>
                <a:latin typeface="Calibri"/>
              </a:rPr>
              <a:t>correctness</a:t>
            </a:r>
            <a:r>
              <a:rPr sz="1550" b="0" i="0">
                <a:solidFill>
                  <a:srgbClr val="36414A"/>
                </a:solidFill>
                <a:latin typeface="Calibri"/>
              </a:rPr>
              <a:t> (parity with the oracle), not performance — the port is </a:t>
            </a:r>
            <a:r>
              <a:rPr sz="1550" b="1" i="0">
                <a:solidFill>
                  <a:srgbClr val="1F2328"/>
                </a:solidFill>
                <a:latin typeface="Calibri"/>
              </a:rPr>
              <a:t>verified but not yet tuned</a:t>
            </a:r>
          </a:p>
          <a:p>
            <a:pPr marL="237744" indent="-237744">
              <a:spcAft>
                <a:spcPts val="1100"/>
              </a:spcAft>
              <a:buFont typeface="Calibri"/>
              <a:buChar char="–"/>
            </a:pPr>
            <a:r>
              <a:rPr sz="1550" b="1" i="0">
                <a:solidFill>
                  <a:srgbClr val="3B7A57"/>
                </a:solidFill>
                <a:latin typeface="Calibri"/>
              </a:rPr>
              <a:t>Next steps</a:t>
            </a:r>
            <a:r>
              <a:rPr sz="1550" b="0" i="0">
                <a:solidFill>
                  <a:srgbClr val="36414A"/>
                </a:solidFill>
                <a:latin typeface="Calibri"/>
              </a:rPr>
              <a:t>  —  measure, then optimize:</a:t>
            </a:r>
          </a:p>
          <a:p>
            <a:pPr marL="512064" indent="-237744">
              <a:spcAft>
                <a:spcPts val="1100"/>
              </a:spcAft>
              <a:buFont typeface="Calibri"/>
              <a:buChar char="·"/>
            </a:pPr>
            <a:r>
              <a:rPr sz="1550" b="0" i="0">
                <a:solidFill>
                  <a:srgbClr val="36414A"/>
                </a:solidFill>
                <a:latin typeface="Calibri"/>
              </a:rPr>
              <a:t>Add Rust benchmarks (criterion) for the hot paths — EEPROM parse, DOM poll, CMIS state machine</a:t>
            </a:r>
          </a:p>
          <a:p>
            <a:pPr marL="512064" indent="-237744">
              <a:spcAft>
                <a:spcPts val="1100"/>
              </a:spcAft>
              <a:buFont typeface="Calibri"/>
              <a:buChar char="·"/>
            </a:pPr>
            <a:r>
              <a:rPr sz="1550" b="0" i="0">
                <a:solidFill>
                  <a:srgbClr val="36414A"/>
                </a:solidFill>
                <a:latin typeface="Calibri"/>
              </a:rPr>
              <a:t>Measure vs the Python daemon — CPU, memory (RSS), poll latency, startup time</a:t>
            </a:r>
          </a:p>
          <a:p>
            <a:pPr marL="512064" indent="-237744">
              <a:spcAft>
                <a:spcPts val="1100"/>
              </a:spcAft>
              <a:buFont typeface="Calibri"/>
              <a:buChar char="·"/>
            </a:pPr>
            <a:r>
              <a:rPr sz="1550" b="0" i="0">
                <a:solidFill>
                  <a:srgbClr val="36414A"/>
                </a:solidFill>
                <a:latin typeface="Calibri"/>
              </a:rPr>
              <a:t>Profile &amp; optimize, then </a:t>
            </a:r>
            <a:r>
              <a:rPr sz="1550" b="1" i="0">
                <a:solidFill>
                  <a:srgbClr val="1F2328"/>
                </a:solidFill>
                <a:latin typeface="Calibri"/>
              </a:rPr>
              <a:t>re-verify against the same oracle</a:t>
            </a:r>
            <a:r>
              <a:rPr sz="1550" b="0" i="0">
                <a:solidFill>
                  <a:srgbClr val="36414A"/>
                </a:solidFill>
                <a:latin typeface="Calibri"/>
              </a:rPr>
              <a:t> (no regressions)</a:t>
            </a:r>
          </a:p>
        </p:txBody>
      </p:sp>
    </p:spTree>
    <p:extLst>
      <p:ext uri="{BB962C8B-B14F-4D97-AF65-F5344CB8AC3E}">
        <p14:creationId xmlns:p14="http://schemas.microsoft.com/office/powerpoint/2010/main" val="35217569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E17A28-50FF-DA15-01C6-2C66569E5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Georgia"/>
              </a:rPr>
              <a:t>Extending the pipeline — benchmark &amp; optimize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600200"/>
            <a:ext cx="10908792" cy="0"/>
          </a:xfrm>
          <a:prstGeom prst="line">
            <a:avLst/>
          </a:prstGeom>
          <a:ln w="12700">
            <a:solidFill>
              <a:srgbClr val="C9CD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82880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36414A"/>
                </a:solidFill>
                <a:latin typeface="Calibri"/>
              </a:rPr>
              <a:t>Add </a:t>
            </a:r>
            <a:r>
              <a:rPr sz="1500" b="1" i="0">
                <a:solidFill>
                  <a:srgbClr val="B57A1F"/>
                </a:solidFill>
                <a:latin typeface="Calibri"/>
              </a:rPr>
              <a:t>benchmark</a:t>
            </a:r>
            <a:r>
              <a:rPr sz="1500" b="0" i="0">
                <a:solidFill>
                  <a:srgbClr val="36414A"/>
                </a:solidFill>
                <a:latin typeface="Calibri"/>
              </a:rPr>
              <a:t> + </a:t>
            </a:r>
            <a:r>
              <a:rPr sz="1500" b="1" i="0">
                <a:solidFill>
                  <a:srgbClr val="B57A1F"/>
                </a:solidFill>
                <a:latin typeface="Calibri"/>
              </a:rPr>
              <a:t>optimizer</a:t>
            </a:r>
            <a:r>
              <a:rPr sz="1500" b="0" i="0">
                <a:solidFill>
                  <a:srgbClr val="36414A"/>
                </a:solidFill>
                <a:latin typeface="Calibri"/>
              </a:rPr>
              <a:t> stages after parity — turn a verified port into a fast 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514600"/>
            <a:ext cx="941832" cy="82296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00" b="1">
                <a:solidFill>
                  <a:srgbClr val="1F2328"/>
                </a:solidFill>
                <a:latin typeface="Consolas"/>
              </a:rPr>
              <a:t>analyze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81912" y="2514600"/>
            <a:ext cx="146304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1728216" y="2514600"/>
            <a:ext cx="941832" cy="82296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00" b="1">
                <a:solidFill>
                  <a:srgbClr val="1F2328"/>
                </a:solidFill>
                <a:latin typeface="Consolas"/>
              </a:rPr>
              <a:t>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70048" y="2514600"/>
            <a:ext cx="146304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816352" y="2514600"/>
            <a:ext cx="941832" cy="82296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00" b="1">
                <a:solidFill>
                  <a:srgbClr val="1F2328"/>
                </a:solidFill>
                <a:latin typeface="Consolas"/>
              </a:rPr>
              <a:t>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58184" y="2514600"/>
            <a:ext cx="146304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04487" y="2514600"/>
            <a:ext cx="941832" cy="82296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00" b="1">
                <a:solidFill>
                  <a:srgbClr val="1F2328"/>
                </a:solidFill>
                <a:latin typeface="Consolas"/>
              </a:rPr>
              <a:t>select_</a:t>
            </a:r>
          </a:p>
          <a:p>
            <a:pPr algn="ctr"/>
            <a:r>
              <a:rPr sz="900" b="1">
                <a:solidFill>
                  <a:srgbClr val="1F2328"/>
                </a:solidFill>
                <a:latin typeface="Consolas"/>
              </a:rPr>
              <a:t>milestone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514600"/>
            <a:ext cx="146304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92623" y="2514600"/>
            <a:ext cx="941832" cy="82296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00" b="1">
                <a:solidFill>
                  <a:srgbClr val="1F2328"/>
                </a:solidFill>
                <a:latin typeface="Consolas"/>
              </a:rPr>
              <a:t>translate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34455" y="2514600"/>
            <a:ext cx="146304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59" y="2514600"/>
            <a:ext cx="941832" cy="82296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00" b="1">
                <a:solidFill>
                  <a:srgbClr val="1F2328"/>
                </a:solidFill>
                <a:latin typeface="Consolas"/>
              </a:rPr>
              <a:t>validate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22591" y="2514600"/>
            <a:ext cx="146304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68895" y="2514600"/>
            <a:ext cx="941832" cy="82296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00" b="1">
                <a:solidFill>
                  <a:srgbClr val="1F2328"/>
                </a:solidFill>
                <a:latin typeface="Consolas"/>
              </a:rPr>
              <a:t>parity_</a:t>
            </a:r>
          </a:p>
          <a:p>
            <a:pPr algn="ctr"/>
            <a:r>
              <a:rPr sz="900" b="1">
                <a:solidFill>
                  <a:srgbClr val="1F2328"/>
                </a:solidFill>
                <a:latin typeface="Consolas"/>
              </a:rPr>
              <a:t>verify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0727" y="2514600"/>
            <a:ext cx="146304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57031" y="2514600"/>
            <a:ext cx="941832" cy="822960"/>
          </a:xfrm>
          <a:prstGeom prst="rect">
            <a:avLst/>
          </a:prstGeom>
          <a:solidFill>
            <a:srgbClr val="E7E9EC"/>
          </a:solidFill>
          <a:ln w="12700">
            <a:solidFill>
              <a:srgbClr val="B57A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00" b="1">
                <a:solidFill>
                  <a:srgbClr val="B57A1F"/>
                </a:solidFill>
                <a:latin typeface="Consolas"/>
              </a:rPr>
              <a:t>benchmark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98863" y="2514600"/>
            <a:ext cx="146304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45167" y="2514600"/>
            <a:ext cx="941832" cy="822960"/>
          </a:xfrm>
          <a:prstGeom prst="rect">
            <a:avLst/>
          </a:prstGeom>
          <a:solidFill>
            <a:srgbClr val="E7E9EC"/>
          </a:solidFill>
          <a:ln w="12700">
            <a:solidFill>
              <a:srgbClr val="B57A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00" b="1">
                <a:solidFill>
                  <a:srgbClr val="B57A1F"/>
                </a:solidFill>
                <a:latin typeface="Consolas"/>
              </a:rPr>
              <a:t>optimizer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86999" y="2514600"/>
            <a:ext cx="146304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6B7480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433303" y="2514600"/>
            <a:ext cx="941832" cy="82296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00" b="1">
                <a:solidFill>
                  <a:srgbClr val="1F2328"/>
                </a:solidFill>
                <a:latin typeface="Consolas"/>
              </a:rPr>
              <a:t>terminal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551675" y="3337560"/>
            <a:ext cx="0" cy="164592"/>
          </a:xfrm>
          <a:prstGeom prst="line">
            <a:avLst/>
          </a:prstGeom>
          <a:ln w="13970">
            <a:solidFill>
              <a:srgbClr val="6B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4375403" y="3502152"/>
            <a:ext cx="2176272" cy="0"/>
          </a:xfrm>
          <a:prstGeom prst="line">
            <a:avLst/>
          </a:prstGeom>
          <a:ln w="13970">
            <a:solidFill>
              <a:srgbClr val="6B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4375403" y="3337560"/>
            <a:ext cx="0" cy="164592"/>
          </a:xfrm>
          <a:prstGeom prst="line">
            <a:avLst/>
          </a:prstGeom>
          <a:ln w="13970">
            <a:solidFill>
              <a:srgbClr val="6B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639812" y="3337560"/>
            <a:ext cx="0" cy="384048"/>
          </a:xfrm>
          <a:prstGeom prst="line">
            <a:avLst/>
          </a:prstGeom>
          <a:ln w="13970">
            <a:solidFill>
              <a:srgbClr val="6B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2199132" y="3721608"/>
            <a:ext cx="5440680" cy="0"/>
          </a:xfrm>
          <a:prstGeom prst="line">
            <a:avLst/>
          </a:prstGeom>
          <a:ln w="13970">
            <a:solidFill>
              <a:srgbClr val="6B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199132" y="3337560"/>
            <a:ext cx="0" cy="384048"/>
          </a:xfrm>
          <a:prstGeom prst="line">
            <a:avLst/>
          </a:prstGeom>
          <a:ln w="13970">
            <a:solidFill>
              <a:srgbClr val="6B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375403" y="3346703"/>
            <a:ext cx="217627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>
                <a:solidFill>
                  <a:srgbClr val="6B7480"/>
                </a:solidFill>
                <a:latin typeface="Calibri"/>
              </a:rPr>
              <a:t>repair · next milestone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9132" y="3758184"/>
            <a:ext cx="5440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>
                <a:solidFill>
                  <a:srgbClr val="6B7480"/>
                </a:solidFill>
                <a:latin typeface="Calibri"/>
              </a:rPr>
              <a:t>parity gaps → new milestones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4251960"/>
            <a:ext cx="10908792" cy="137160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8680" y="4389120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alibri"/>
              </a:rPr>
              <a:t>The two new stages (proposed)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" y="4754880"/>
            <a:ext cx="104241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7744" indent="-237744">
              <a:spcAft>
                <a:spcPts val="700"/>
              </a:spcAft>
              <a:buFont typeface="Calibri"/>
              <a:buChar char="–"/>
            </a:pPr>
            <a:r>
              <a:rPr sz="1300" b="1" i="0">
                <a:solidFill>
                  <a:srgbClr val="B57A1F"/>
                </a:solidFill>
                <a:latin typeface="Consolas"/>
              </a:rPr>
              <a:t>benchmark</a:t>
            </a:r>
            <a:r>
              <a:rPr sz="1300" b="0" i="0">
                <a:solidFill>
                  <a:srgbClr val="36414A"/>
                </a:solidFill>
                <a:latin typeface="Calibri"/>
              </a:rPr>
              <a:t>  —  runs the Rust criterion suite + records CPU / memory / latency vs the Python baseline</a:t>
            </a:r>
          </a:p>
          <a:p>
            <a:pPr marL="237744" indent="-237744">
              <a:spcAft>
                <a:spcPts val="700"/>
              </a:spcAft>
              <a:buFont typeface="Calibri"/>
              <a:buChar char="–"/>
            </a:pPr>
            <a:r>
              <a:rPr sz="1300" b="1" i="0">
                <a:solidFill>
                  <a:srgbClr val="B57A1F"/>
                </a:solidFill>
                <a:latin typeface="Consolas"/>
              </a:rPr>
              <a:t>optimizer</a:t>
            </a:r>
            <a:r>
              <a:rPr sz="1300" b="0" i="0">
                <a:solidFill>
                  <a:srgbClr val="36414A"/>
                </a:solidFill>
                <a:latin typeface="Calibri"/>
              </a:rPr>
              <a:t>  —  an agent that tunes hot paths, then re-validates against the same oracle (no regressions)</a:t>
            </a:r>
          </a:p>
        </p:txBody>
      </p:sp>
      <p:cxnSp>
        <p:nvCxnSpPr>
          <p:cNvPr id="41" name="Connector 23">
            <a:extLst>
              <a:ext uri="{FF2B5EF4-FFF2-40B4-BE49-F238E27FC236}">
                <a16:creationId xmlns:a16="http://schemas.microsoft.com/office/drawing/2014/main" id="{03624E10-EF20-466C-DB00-5D5E63FB306E}"/>
              </a:ext>
            </a:extLst>
          </p:cNvPr>
          <p:cNvCxnSpPr>
            <a:cxnSpLocks/>
          </p:cNvCxnSpPr>
          <p:nvPr/>
        </p:nvCxnSpPr>
        <p:spPr>
          <a:xfrm>
            <a:off x="9889235" y="3374135"/>
            <a:ext cx="0" cy="164592"/>
          </a:xfrm>
          <a:prstGeom prst="line">
            <a:avLst/>
          </a:prstGeom>
          <a:ln w="13970">
            <a:solidFill>
              <a:srgbClr val="6B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24">
            <a:extLst>
              <a:ext uri="{FF2B5EF4-FFF2-40B4-BE49-F238E27FC236}">
                <a16:creationId xmlns:a16="http://schemas.microsoft.com/office/drawing/2014/main" id="{5F77C8CB-BCAA-3315-DAA3-83FC71F6739C}"/>
              </a:ext>
            </a:extLst>
          </p:cNvPr>
          <p:cNvCxnSpPr>
            <a:cxnSpLocks/>
          </p:cNvCxnSpPr>
          <p:nvPr/>
        </p:nvCxnSpPr>
        <p:spPr>
          <a:xfrm flipH="1">
            <a:off x="8801099" y="3526813"/>
            <a:ext cx="1088136" cy="0"/>
          </a:xfrm>
          <a:prstGeom prst="line">
            <a:avLst/>
          </a:prstGeom>
          <a:ln w="13970">
            <a:solidFill>
              <a:srgbClr val="6B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25">
            <a:extLst>
              <a:ext uri="{FF2B5EF4-FFF2-40B4-BE49-F238E27FC236}">
                <a16:creationId xmlns:a16="http://schemas.microsoft.com/office/drawing/2014/main" id="{4F680A2B-D35C-7D2C-177E-B34F535FDD3C}"/>
              </a:ext>
            </a:extLst>
          </p:cNvPr>
          <p:cNvCxnSpPr>
            <a:cxnSpLocks/>
          </p:cNvCxnSpPr>
          <p:nvPr/>
        </p:nvCxnSpPr>
        <p:spPr>
          <a:xfrm flipV="1">
            <a:off x="8801099" y="3362221"/>
            <a:ext cx="0" cy="164592"/>
          </a:xfrm>
          <a:prstGeom prst="line">
            <a:avLst/>
          </a:prstGeom>
          <a:ln w="13970">
            <a:solidFill>
              <a:srgbClr val="6B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48998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Georgia"/>
              </a:rPr>
              <a:t>Conclusion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600200"/>
            <a:ext cx="10908792" cy="0"/>
          </a:xfrm>
          <a:prstGeom prst="line">
            <a:avLst/>
          </a:prstGeom>
          <a:ln w="12700">
            <a:solidFill>
              <a:srgbClr val="C9CD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965960"/>
            <a:ext cx="1088136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7744" indent="-237744">
              <a:spcAft>
                <a:spcPts val="1600"/>
              </a:spcAft>
              <a:buFont typeface="Calibri"/>
              <a:buChar char="–"/>
            </a:pPr>
            <a:r>
              <a:rPr sz="1700" b="1" i="0" dirty="0">
                <a:solidFill>
                  <a:srgbClr val="1F2328"/>
                </a:solidFill>
                <a:latin typeface="Calibri"/>
              </a:rPr>
              <a:t>Built a trustworthy E2E oracle</a:t>
            </a:r>
            <a:r>
              <a:rPr sz="1700" b="0" i="0" dirty="0">
                <a:solidFill>
                  <a:srgbClr val="36414A"/>
                </a:solidFill>
                <a:latin typeface="Calibri"/>
              </a:rPr>
              <a:t>  —  emulator + ~100 black-box tests that run the real daemon</a:t>
            </a:r>
          </a:p>
          <a:p>
            <a:pPr marL="237744" indent="-237744">
              <a:spcAft>
                <a:spcPts val="1600"/>
              </a:spcAft>
              <a:buFont typeface="Calibri"/>
              <a:buChar char="–"/>
            </a:pPr>
            <a:r>
              <a:rPr sz="1700" b="1" i="0" dirty="0">
                <a:solidFill>
                  <a:srgbClr val="1F2328"/>
                </a:solidFill>
                <a:latin typeface="Calibri"/>
              </a:rPr>
              <a:t>Automated the Python → Rust port</a:t>
            </a:r>
            <a:r>
              <a:rPr sz="1700" b="0" i="0" dirty="0">
                <a:solidFill>
                  <a:srgbClr val="36414A"/>
                </a:solidFill>
                <a:latin typeface="Calibri"/>
              </a:rPr>
              <a:t>  with a deterministic multi-agent pipeline, self-validated against the oracle</a:t>
            </a:r>
          </a:p>
          <a:p>
            <a:pPr marL="237744" indent="-237744">
              <a:spcAft>
                <a:spcPts val="1600"/>
              </a:spcAft>
              <a:buFont typeface="Calibri"/>
              <a:buChar char="–"/>
            </a:pPr>
            <a:r>
              <a:rPr sz="1700" b="1" i="0" dirty="0">
                <a:solidFill>
                  <a:srgbClr val="1F2328"/>
                </a:solidFill>
                <a:latin typeface="Calibri"/>
              </a:rPr>
              <a:t>Shipped a verified Rust </a:t>
            </a:r>
            <a:r>
              <a:rPr sz="1700" b="1" i="0" dirty="0" err="1">
                <a:solidFill>
                  <a:srgbClr val="1F2328"/>
                </a:solidFill>
                <a:latin typeface="Calibri"/>
              </a:rPr>
              <a:t>xcvrd</a:t>
            </a:r>
            <a:r>
              <a:rPr sz="1700" b="0" i="0" dirty="0">
                <a:solidFill>
                  <a:srgbClr val="36414A"/>
                </a:solidFill>
                <a:latin typeface="Calibri"/>
              </a:rPr>
              <a:t>  + </a:t>
            </a:r>
            <a:r>
              <a:rPr sz="1700" b="1" i="0" dirty="0" err="1">
                <a:solidFill>
                  <a:srgbClr val="1F2328"/>
                </a:solidFill>
                <a:latin typeface="Calibri"/>
              </a:rPr>
              <a:t>CodeWeaver</a:t>
            </a:r>
            <a:r>
              <a:rPr sz="1700" b="0" i="0" dirty="0">
                <a:solidFill>
                  <a:srgbClr val="36414A"/>
                </a:solidFill>
                <a:latin typeface="Calibri"/>
              </a:rPr>
              <a:t>, a reusable migration framework</a:t>
            </a:r>
          </a:p>
          <a:p>
            <a:pPr marL="237744" indent="-237744">
              <a:spcAft>
                <a:spcPts val="1600"/>
              </a:spcAft>
              <a:buFont typeface="Calibri"/>
              <a:buChar char="–"/>
            </a:pPr>
            <a:r>
              <a:rPr sz="1700" b="1" i="0" dirty="0">
                <a:solidFill>
                  <a:srgbClr val="3B7A57"/>
                </a:solidFill>
                <a:latin typeface="Calibri"/>
              </a:rPr>
              <a:t>Key lesson:  </a:t>
            </a:r>
            <a:r>
              <a:rPr sz="1700" b="0" i="1" dirty="0">
                <a:solidFill>
                  <a:srgbClr val="1F2328"/>
                </a:solidFill>
                <a:latin typeface="Calibri"/>
              </a:rPr>
              <a:t>you can only automate what you can verify</a:t>
            </a:r>
            <a:r>
              <a:rPr sz="1700" b="0" i="0" dirty="0">
                <a:solidFill>
                  <a:srgbClr val="36414A"/>
                </a:solidFill>
                <a:latin typeface="Calibri"/>
              </a:rPr>
              <a:t>  —  tests-as-oracle + determinism + reversibility</a:t>
            </a:r>
          </a:p>
          <a:p>
            <a:pPr marL="237744" indent="-237744">
              <a:spcAft>
                <a:spcPts val="1600"/>
              </a:spcAft>
              <a:buFont typeface="Calibri"/>
              <a:buChar char="–"/>
            </a:pPr>
            <a:r>
              <a:rPr sz="1700" b="1" i="0" dirty="0">
                <a:solidFill>
                  <a:srgbClr val="B57A1F"/>
                </a:solidFill>
                <a:latin typeface="Calibri"/>
              </a:rPr>
              <a:t>Next:  </a:t>
            </a:r>
            <a:r>
              <a:rPr sz="1700" b="0" i="0" dirty="0">
                <a:solidFill>
                  <a:srgbClr val="36414A"/>
                </a:solidFill>
                <a:latin typeface="Calibri"/>
              </a:rPr>
              <a:t>close the performance gap — benchmark &amp; optimize the verified port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3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Georgia"/>
              </a:rPr>
              <a:t>Thank you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41248" y="3429000"/>
            <a:ext cx="2834640" cy="0"/>
          </a:xfrm>
          <a:prstGeom prst="line">
            <a:avLst/>
          </a:prstGeom>
          <a:ln w="15875">
            <a:solidFill>
              <a:srgbClr val="6B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3611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1">
                <a:solidFill>
                  <a:srgbClr val="9AA2AB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75488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xcvrd Python → Rust</a:t>
            </a:r>
            <a:r>
              <a:rPr sz="1500" b="0" i="0">
                <a:solidFill>
                  <a:srgbClr val="9AA2AB"/>
                </a:solidFill>
                <a:latin typeface="Calibri"/>
              </a:rPr>
              <a:t>   ·   a trustworthy E2E oracle + a deterministic multi-agent port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6B7480"/>
                </a:solidFill>
                <a:latin typeface="Calibri"/>
              </a:rPr>
              <a:t>Farzad   ·   August 18,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2581</TotalTime>
  <Words>2895</Words>
  <Application>Microsoft Office PowerPoint</Application>
  <PresentationFormat>Widescreen</PresentationFormat>
  <Paragraphs>506</Paragraphs>
  <Slides>31</Slides>
  <Notes>29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Consolas</vt:lpstr>
      <vt:lpstr>Georgia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Farzad Habibi</cp:lastModifiedBy>
  <cp:revision>1</cp:revision>
  <dcterms:created xsi:type="dcterms:W3CDTF">2013-01-27T09:14:16Z</dcterms:created>
  <dcterms:modified xsi:type="dcterms:W3CDTF">2026-09-02T21:24:30Z</dcterms:modified>
  <cp:category/>
</cp:coreProperties>
</file>